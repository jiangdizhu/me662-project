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9" r:id="rId6"/>
    <p:sldId id="265" r:id="rId7"/>
    <p:sldId id="276" r:id="rId8"/>
    <p:sldId id="277" r:id="rId9"/>
    <p:sldId id="278" r:id="rId10"/>
    <p:sldId id="262" r:id="rId11"/>
    <p:sldId id="279" r:id="rId12"/>
    <p:sldId id="284" r:id="rId13"/>
    <p:sldId id="283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52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92" y="5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jiangdizhu/ME662-Project.git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1474115"/>
          </a:xfrm>
        </p:spPr>
        <p:txBody>
          <a:bodyPr>
            <a:normAutofit/>
          </a:bodyPr>
          <a:lstStyle/>
          <a:p>
            <a:r>
              <a:rPr lang="en-US" dirty="0"/>
              <a:t>JD</a:t>
            </a:r>
            <a:br>
              <a:rPr lang="en-US" dirty="0"/>
            </a:br>
            <a:r>
              <a:rPr lang="en-US" dirty="0"/>
              <a:t>ME 662 Advanced Fluid Mechanics</a:t>
            </a:r>
          </a:p>
          <a:p>
            <a:r>
              <a:rPr lang="en-US" dirty="0"/>
              <a:t>December 2, 2025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12/02/2025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7FFA-DDC1-A0CB-C115-2F0864C4C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472A-105D-E7F9-7D26-1FD1C4819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The Physics of Voice: </a:t>
            </a:r>
          </a:p>
          <a:p>
            <a:pPr lvl="1"/>
            <a:r>
              <a:rPr lang="en-US" dirty="0"/>
              <a:t>Voice is produced by airflow through the larynx (glottis).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intraglottal</a:t>
            </a:r>
            <a:r>
              <a:rPr lang="en-US" dirty="0"/>
              <a:t> pressure profile drives the vocal fold oscillation. </a:t>
            </a:r>
          </a:p>
          <a:p>
            <a:r>
              <a:rPr lang="en-US" b="1" dirty="0"/>
              <a:t>The Problem: </a:t>
            </a:r>
          </a:p>
          <a:p>
            <a:pPr lvl="1"/>
            <a:r>
              <a:rPr lang="en-US" dirty="0"/>
              <a:t>Modeling airflow in the human larynx (glottis) is complex and computationally expensive (usually requires full Navier-Stokes simulations). </a:t>
            </a:r>
          </a:p>
          <a:p>
            <a:pPr lvl="1"/>
            <a:r>
              <a:rPr lang="en-US" dirty="0"/>
              <a:t>There is a need for faster, simplified models to estimate the aerodynamic driving forces of speech. </a:t>
            </a:r>
          </a:p>
          <a:p>
            <a:r>
              <a:rPr lang="en-US" b="1" dirty="0"/>
              <a:t>Project Objective: </a:t>
            </a:r>
          </a:p>
          <a:p>
            <a:pPr lvl="1"/>
            <a:r>
              <a:rPr lang="en-US" dirty="0"/>
              <a:t>Develop increasingly sophisticated simplified models based on Potential Flow Theory to predict pressures. </a:t>
            </a:r>
          </a:p>
          <a:p>
            <a:pPr lvl="1"/>
            <a:r>
              <a:rPr lang="en-US" dirty="0"/>
              <a:t>Validate the model against benchmark experimental data (Scherer et al., 2001).</a:t>
            </a:r>
          </a:p>
          <a:p>
            <a:r>
              <a:rPr lang="en-CA" dirty="0"/>
              <a:t>The python </a:t>
            </a:r>
            <a:r>
              <a:rPr lang="en-CA" dirty="0" err="1"/>
              <a:t>implmentation</a:t>
            </a:r>
            <a:r>
              <a:rPr lang="en-CA" dirty="0"/>
              <a:t> can be found at </a:t>
            </a:r>
            <a:r>
              <a:rPr lang="en-CA" u="sng" dirty="0">
                <a:hlinkClick r:id="rId2"/>
              </a:rPr>
              <a:t>https://github.com/jiangdizhu/ME662-Project.git</a:t>
            </a:r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CB1FC-FAA4-A1C8-06B0-30BD407C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4A56-2B5F-5400-66F1-D24999A5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B7AA2E3-C27F-1489-7B54-504A220FB44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483" y="1412875"/>
            <a:ext cx="5653697" cy="459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5213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EDA67-1D2F-9406-43E5-FF874011E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881" y="1176273"/>
            <a:ext cx="5542713" cy="670270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D58A3-6B52-545A-4A27-FEBF9340E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6154" y="1176273"/>
            <a:ext cx="5593458" cy="67027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1" name="Content Placeholder 10" descr="A diagram of a pressure drop&#10;&#10;AI-generated content may be incorrect.">
            <a:extLst>
              <a:ext uri="{FF2B5EF4-FFF2-40B4-BE49-F238E27FC236}">
                <a16:creationId xmlns:a16="http://schemas.microsoft.com/office/drawing/2014/main" id="{DCC48CB1-7192-88BC-20F0-A7F303D0BF7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198" y="1964481"/>
            <a:ext cx="3021353" cy="3846513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8F625A-07E9-303B-678F-3AD6A33A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Apparatus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CDFABB-B614-BA06-8BC1-68309519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393407-799D-91A8-1264-D1D7B2D6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Content Placeholder 6" descr="A drawing of a rectangular object&#10;&#10;AI-generated content may be incorrect.">
            <a:extLst>
              <a:ext uri="{FF2B5EF4-FFF2-40B4-BE49-F238E27FC236}">
                <a16:creationId xmlns:a16="http://schemas.microsoft.com/office/drawing/2014/main" id="{8FC0D8DB-983D-2399-1589-14CFE19136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237" y="1964481"/>
            <a:ext cx="3092189" cy="384651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AE2031-DCF6-9849-99F7-F7918B388410}"/>
              </a:ext>
            </a:extLst>
          </p:cNvPr>
          <p:cNvSpPr txBox="1"/>
          <p:nvPr/>
        </p:nvSpPr>
        <p:spPr>
          <a:xfrm>
            <a:off x="259881" y="5786750"/>
            <a:ext cx="11569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Figures adapted from Scherer, R. C., Shinwari, D., De Witt, K. J., Zhang, C.,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Kucinschi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B. R., &amp;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Afjeh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A. A. (2001).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Intraglottal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pressure profiles for a symmetric and oblique glottis with a divergence angle of 10 degrees. 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J. </a:t>
            </a:r>
            <a:r>
              <a:rPr lang="en-CA" sz="10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Acoust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Soc. Am., 109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(4), 1616–1630.</a:t>
            </a:r>
            <a:r>
              <a:rPr lang="en-CA" sz="1000" dirty="0">
                <a:effectLst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8877698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E553-E0F4-6B62-908E-5489A71AE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Concept: </a:t>
                </a:r>
              </a:p>
              <a:p>
                <a:pPr lvl="1"/>
                <a:r>
                  <a:rPr lang="en-US" dirty="0"/>
                  <a:t>Start with the simplest possible mathematical representation: Method of Images. </a:t>
                </a:r>
              </a:p>
              <a:p>
                <a:pPr lvl="1"/>
                <a:r>
                  <a:rPr lang="en-US" dirty="0"/>
                  <a:t>Approximated the glottal constriction as two opposing semicircles. </a:t>
                </a:r>
              </a:p>
              <a:p>
                <a:r>
                  <a:rPr lang="en-US" b="1" dirty="0"/>
                  <a:t>Formulation: </a:t>
                </a:r>
              </a:p>
              <a:p>
                <a:pPr lvl="1"/>
                <a:r>
                  <a:rPr lang="en-US" dirty="0"/>
                  <a:t>Superposition of Uniform Flow + Infinite Series of Doublets. </a:t>
                </a:r>
              </a:p>
              <a:p>
                <a:pPr lvl="1"/>
                <a:r>
                  <a:rPr lang="en-US" dirty="0"/>
                  <a:t>Derivation using complex potential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to satisfy boundary conditions.</a:t>
                </a:r>
              </a:p>
              <a:p>
                <a:r>
                  <a:rPr lang="en-US" b="1" dirty="0"/>
                  <a:t>Why this approach? </a:t>
                </a:r>
              </a:p>
              <a:p>
                <a:pPr lvl="1"/>
                <a:r>
                  <a:rPr lang="en-US" dirty="0"/>
                  <a:t>An exact, closed-form solution for pressure and velocity. </a:t>
                </a:r>
              </a:p>
              <a:p>
                <a:pPr lvl="1"/>
                <a:r>
                  <a:rPr lang="en-US" dirty="0"/>
                  <a:t>Extremely fast computation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 b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E56F6-453E-2740-633D-ED520B5B8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BA510-061C-4E6B-5AB2-B5D5FE656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Content Placeholder 8" descr="A diagram of a field&#10;&#10;AI-generated content may be incorrect.">
            <a:extLst>
              <a:ext uri="{FF2B5EF4-FFF2-40B4-BE49-F238E27FC236}">
                <a16:creationId xmlns:a16="http://schemas.microsoft.com/office/drawing/2014/main" id="{60780855-96FF-F641-EDD5-06D13D07A5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3696084"/>
            <a:ext cx="3600000" cy="1800000"/>
          </a:xfrm>
          <a:prstGeom prst="rect">
            <a:avLst/>
          </a:prstGeom>
        </p:spPr>
      </p:pic>
      <p:pic>
        <p:nvPicPr>
          <p:cNvPr id="10" name="Picture 9" descr="A diagram of a red and grey rectangular object with a blue center&#10;&#10;AI-generated content may be incorrect.">
            <a:extLst>
              <a:ext uri="{FF2B5EF4-FFF2-40B4-BE49-F238E27FC236}">
                <a16:creationId xmlns:a16="http://schemas.microsoft.com/office/drawing/2014/main" id="{98E02804-31FC-1292-A765-374885BB07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1629000"/>
            <a:ext cx="3600794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22383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B69E-C9A5-9075-4037-31062A72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 -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CA" dirty="0"/>
              </a:p>
              <a:p>
                <a:pPr lvl="0"/>
                <a:r>
                  <a:rPr lang="en-CA" dirty="0"/>
                  <a:t>Boundary Conditions: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CA" dirty="0"/>
                  <a:t> (Bottom wall)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𝑈𝐷</m:t>
                    </m:r>
                  </m:oMath>
                </a14:m>
                <a:r>
                  <a:rPr lang="en-CA" dirty="0"/>
                  <a:t> (Top wall)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𝑑𝑊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en-CA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CA" dirty="0"/>
                  <a:t> as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CA" dirty="0"/>
                  <a:t> (Upstream uniform flow)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CA" dirty="0"/>
                  <a:t>on the bump at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𝑈𝐷</m:t>
                    </m:r>
                  </m:oMath>
                </a14:m>
                <a:r>
                  <a:rPr lang="en-CA" dirty="0"/>
                  <a:t> on the bump at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𝐷𝑖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</m:oMath>
                </a14:m>
                <a:r>
                  <a:rPr lang="en-CA" dirty="0"/>
                  <a:t> </a:t>
                </a:r>
              </a:p>
              <a:p>
                <a:endParaRPr lang="en-CA" dirty="0"/>
              </a:p>
              <a:p>
                <a:pPr marL="0" indent="0">
                  <a:buNone/>
                </a:pPr>
                <a:endParaRPr lang="en-CA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CA" dirty="0"/>
                  <a:t> 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𝑛𝐷𝑖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= 0,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1, 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CA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i="1" dirty="0">
                    <a:latin typeface="Cambria Math" panose="02040503050406030204" pitchFamily="18" charset="0"/>
                  </a:rPr>
                  <a:t> </a:t>
                </a:r>
                <a:r>
                  <a:rPr lang="en-CA" dirty="0"/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= 0,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1, 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CA" sz="2300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sz="2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sz="23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csch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sech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CA" sz="23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d>
                                  <m:d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CA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447" t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D0DE4-D94D-BE6B-CEDA-3FE24AC1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8CC6C-B21F-E470-6F25-BF4B833E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9932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ED15-BEE1-F269-7C1C-5942EE6A0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449A1-D1BD-423E-7D2C-B6D5AAF564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Comparison with Data: </a:t>
            </a:r>
          </a:p>
          <a:p>
            <a:pPr lvl="1"/>
            <a:r>
              <a:rPr lang="en-US" dirty="0"/>
              <a:t>Convergent Section: Some agreement. The model accurately predicts the pressure drop as flow accelerates. </a:t>
            </a:r>
          </a:p>
          <a:p>
            <a:pPr lvl="1"/>
            <a:r>
              <a:rPr lang="en-US" dirty="0"/>
              <a:t>Divergent Section: Significant Discrepancy. </a:t>
            </a:r>
          </a:p>
          <a:p>
            <a:pPr lvl="2"/>
            <a:r>
              <a:rPr lang="en-US" dirty="0"/>
              <a:t>Huge pressure drop.</a:t>
            </a:r>
          </a:p>
          <a:p>
            <a:pPr lvl="2"/>
            <a:r>
              <a:rPr lang="en-US" dirty="0"/>
              <a:t>Model predicts full pressure recovery.</a:t>
            </a:r>
          </a:p>
          <a:p>
            <a:pPr lvl="2"/>
            <a:r>
              <a:rPr lang="en-US" dirty="0"/>
              <a:t>Experiment shows a "Pressure Plateau”.</a:t>
            </a:r>
          </a:p>
          <a:p>
            <a:r>
              <a:rPr lang="en-US" b="1" dirty="0"/>
              <a:t>Limitation:</a:t>
            </a:r>
          </a:p>
          <a:p>
            <a:pPr lvl="1"/>
            <a:r>
              <a:rPr lang="en-US" dirty="0"/>
              <a:t>Is this error due to the Semicircular Geometry approximation? </a:t>
            </a:r>
          </a:p>
          <a:p>
            <a:pPr lvl="1"/>
            <a:r>
              <a:rPr lang="en-US" dirty="0"/>
              <a:t>Need to refine the geometry to match the experiment exactly.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0387E-BE06-0D63-DF47-316145C8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A3D5-A8DC-4AB3-CF12-48DF6FC1C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Content Placeholder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D39CAB1-1632-9250-953D-DFEB563D5B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3" y="1821921"/>
            <a:ext cx="5659437" cy="377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5702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71DB-630E-D0A6-9611-46852DAF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Panel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D789-F5F1-88A3-1C02-A95983BF5B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Refinement: </a:t>
            </a:r>
          </a:p>
          <a:p>
            <a:pPr lvl="1"/>
            <a:r>
              <a:rPr lang="en-US" dirty="0"/>
              <a:t>Source Panel Method to better approximate the experimental geometry. </a:t>
            </a:r>
          </a:p>
          <a:p>
            <a:r>
              <a:rPr lang="en-US" b="1" dirty="0"/>
              <a:t>Implementation: </a:t>
            </a:r>
          </a:p>
          <a:p>
            <a:pPr lvl="1"/>
            <a:r>
              <a:rPr lang="en-US" dirty="0"/>
              <a:t>Discretized the channel wall into N panels with uniform source distributions. </a:t>
            </a:r>
          </a:p>
          <a:p>
            <a:pPr lvl="1"/>
            <a:r>
              <a:rPr lang="en-US" dirty="0"/>
              <a:t>Solved linear system for source strengths to satisfy BC. </a:t>
            </a:r>
          </a:p>
          <a:p>
            <a:r>
              <a:rPr lang="en-US" b="1" dirty="0"/>
              <a:t>Goal: </a:t>
            </a:r>
          </a:p>
          <a:p>
            <a:pPr lvl="1"/>
            <a:r>
              <a:rPr lang="en-US" dirty="0"/>
              <a:t>Determine if correct geometry more accurately predict pressure drop.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en-CA" dirty="0"/>
              </a:p>
              <a:p>
                <a:r>
                  <a:rPr lang="en-CA" dirty="0"/>
                  <a:t>Map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CA" dirty="0"/>
                  <a:t> to a local coordinate system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</m:oMath>
                </a14:m>
                <a:r>
                  <a:rPr lang="en-CA" dirty="0"/>
                  <a:t> fixed to panel j, where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CA" dirty="0"/>
                  <a:t>-axis lies along the panel from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/>
                  <a:t> 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, and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CA" dirty="0"/>
                  <a:t>-axis is normal to it.</a:t>
                </a:r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nary>
                      <m:nary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ad>
                              <m:radPr>
                                <m:degHide m:val="on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CA">
                                            <a:latin typeface="Cambria Math" panose="02040503050406030204" pitchFamily="18" charset="0"/>
                                          </a:rPr>
                                          <m:t>ξ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𝐿</m:t>
                                            </m:r>
                                          </m:e>
                                          <m:sub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CA" dirty="0"/>
              </a:p>
              <a:p>
                <a:r>
                  <a:rPr lang="en-US" dirty="0"/>
                  <a:t>Solve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CA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7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417-4734-EAC8-C3FD-C3373E1F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133FD-98F9-2577-A6BE-73C4143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9229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52079-0C5B-3C2C-0C23-9F6BBB720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9079A-FD0A-F5C8-4A7A-808DF8C69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b="1" dirty="0"/>
              <a:t>Results: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Source Panel Method captures the smooth wall profile perfectly.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Pressure drop prediction match the experiment.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pressure recovery profile remains incorrect (still rises sharply).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Critical Finding: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Geometry is not the limiting factor.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Pure Potential Flow (Inviscid) theory cannot predict the wake behavior in the divergent section.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Conclusion: </a:t>
            </a:r>
            <a:r>
              <a:rPr lang="en-US" sz="1700" dirty="0"/>
              <a:t>The Simplified Model must include viscous effects to predict the pressure plateau.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1B1826A6-DE78-94C6-DF47-71598EA70A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0992" y="1819835"/>
            <a:ext cx="5658620" cy="3777129"/>
          </a:xfrm>
          <a:prstGeom prst="rect">
            <a:avLst/>
          </a:prstGeom>
          <a:noFill/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DB661-DAF3-8FB9-07DC-C9C9F29B8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5226517" cy="250337"/>
          </a:xfrm>
        </p:spPr>
        <p:txBody>
          <a:bodyPr anchor="ctr">
            <a:normAutofit/>
          </a:bodyPr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8ABFA-E587-5C7D-DEBC-297C10208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88000" y="6335309"/>
            <a:ext cx="1016000" cy="250337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PAGE  </a:t>
            </a:r>
            <a:fld id="{93005692-73BE-493E-93AB-ECD6027A765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34103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45A2-7CB0-5301-36CC-374F0FC5F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Boundary Layer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B76928-58DD-1D2F-7D27-ECC22F39CBA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Quantifying the Failure: </a:t>
                </a:r>
              </a:p>
              <a:p>
                <a:pPr lvl="1"/>
                <a:r>
                  <a:rPr lang="en-US" dirty="0"/>
                  <a:t>Applied Thwaites' method to the potential flow velocity profile.</a:t>
                </a:r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𝜈</m:t>
                        </m:r>
                      </m:den>
                    </m:f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𝑑𝑈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drops below separation criterion at just after the throat.</a:t>
                </a:r>
              </a:p>
              <a:p>
                <a:r>
                  <a:rPr lang="en-US" dirty="0"/>
                  <a:t>The adverse pressure gradient immediately triggers laminar separation. </a:t>
                </a:r>
              </a:p>
              <a:p>
                <a:r>
                  <a:rPr lang="en-US" dirty="0"/>
                  <a:t>This separation creates the "plateau" observed in experiments.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B76928-58DD-1D2F-7D27-ECC22F39CB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07" t="-829" r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 descr="A graph of a diagram&#10;&#10;AI-generated content may be incorrect.">
            <a:extLst>
              <a:ext uri="{FF2B5EF4-FFF2-40B4-BE49-F238E27FC236}">
                <a16:creationId xmlns:a16="http://schemas.microsoft.com/office/drawing/2014/main" id="{80EED114-D79A-C42E-E8C2-3759C95D7C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8688" y="1412875"/>
            <a:ext cx="3443287" cy="4591050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7AB8C-44B6-B7BD-1371-D95932C73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3C225-36C3-AF0B-CC5B-7722839D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50941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FFC30-9FE1-4896-F3FC-0ADF0362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&amp; Improvement of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DC57A-ACC9-1207-6023-69E802AE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Viscous-Inviscid Interaction</a:t>
            </a:r>
          </a:p>
          <a:p>
            <a:pPr lvl="1"/>
            <a:r>
              <a:rPr lang="en-US" b="1" dirty="0"/>
              <a:t>Concept: </a:t>
            </a:r>
            <a:r>
              <a:rPr lang="en-US" dirty="0"/>
              <a:t>Couple the Panel Method with an integral boundary layer solver.</a:t>
            </a:r>
          </a:p>
          <a:p>
            <a:pPr lvl="1"/>
            <a:r>
              <a:rPr lang="en-US" b="1" dirty="0"/>
              <a:t>Benefit: </a:t>
            </a:r>
            <a:r>
              <a:rPr lang="en-US" dirty="0"/>
              <a:t>Captures the "squeezing" effect of the boundary layer on the core flow.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Ill-posed (Goldstein’s Singularity at Separation), stability, need a hybrid solution. </a:t>
            </a:r>
          </a:p>
          <a:p>
            <a:r>
              <a:rPr lang="en-US" dirty="0"/>
              <a:t>CFD (RANS/URANS/LES)</a:t>
            </a:r>
          </a:p>
          <a:p>
            <a:pPr lvl="1"/>
            <a:r>
              <a:rPr lang="en-US" b="1" dirty="0"/>
              <a:t>Concept:</a:t>
            </a:r>
            <a:r>
              <a:rPr lang="en-US" dirty="0"/>
              <a:t> Move beyond potential flow to simulate turbulence and jet mixing.</a:t>
            </a:r>
          </a:p>
          <a:p>
            <a:pPr lvl="1"/>
            <a:r>
              <a:rPr lang="en-US" b="1" dirty="0"/>
              <a:t>Benefit:</a:t>
            </a:r>
            <a:r>
              <a:rPr lang="en-US" dirty="0"/>
              <a:t> Captures the complex vortex dynamics in the supraglottal region.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Computationally expensive</a:t>
            </a:r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52376-4285-5EF0-00EF-27EFB46F5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7BEC8-E738-BBC5-A03F-69EA12A6A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6EED028C-5867-C1F9-C354-65106AD7BA0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296" y="1465271"/>
            <a:ext cx="3507229" cy="1975536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C53B52A-546D-B7A5-7FA2-F4CEDB0A29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328" y="3843636"/>
            <a:ext cx="3703197" cy="2160000"/>
          </a:xfrm>
          <a:prstGeom prst="rect">
            <a:avLst/>
          </a:prstGeom>
        </p:spPr>
      </p:pic>
      <p:pic>
        <p:nvPicPr>
          <p:cNvPr id="9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AA524E2E-F272-D45E-F051-2EC0C7E21A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73" t="40195" r="43741" b="49220"/>
          <a:stretch>
            <a:fillRect/>
          </a:stretch>
        </p:blipFill>
        <p:spPr>
          <a:xfrm>
            <a:off x="9915666" y="1037566"/>
            <a:ext cx="1753613" cy="98776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3A6D0DF5-CBDB-EB6F-C671-2E643CCC9171}"/>
              </a:ext>
            </a:extLst>
          </p:cNvPr>
          <p:cNvSpPr/>
          <p:nvPr/>
        </p:nvSpPr>
        <p:spPr>
          <a:xfrm>
            <a:off x="9223514" y="2266122"/>
            <a:ext cx="198782" cy="198783"/>
          </a:xfrm>
          <a:prstGeom prst="ellipse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85B266-5693-16DA-89FF-1BB0848A75D6}"/>
              </a:ext>
            </a:extLst>
          </p:cNvPr>
          <p:cNvCxnSpPr>
            <a:cxnSpLocks/>
            <a:stCxn id="9" idx="1"/>
            <a:endCxn id="10" idx="7"/>
          </p:cNvCxnSpPr>
          <p:nvPr/>
        </p:nvCxnSpPr>
        <p:spPr>
          <a:xfrm flipH="1">
            <a:off x="9393185" y="1531450"/>
            <a:ext cx="522481" cy="763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10403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22CE-2DD2-9E33-1FEA-CC39556F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4A5B7-A976-CAB7-E16B-44C5D9C23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Limitations: </a:t>
            </a:r>
          </a:p>
          <a:p>
            <a:pPr lvl="1"/>
            <a:r>
              <a:rPr lang="en-US" b="1" dirty="0"/>
              <a:t>Geometric Constraints: </a:t>
            </a:r>
            <a:r>
              <a:rPr lang="en-US" dirty="0"/>
              <a:t>The analytic Method of Images is restricted to semicircular constrictions, preventing the modeling of the gradual 10-degree divergent channel used in experimental benchmarks.</a:t>
            </a:r>
          </a:p>
          <a:p>
            <a:pPr lvl="1"/>
            <a:r>
              <a:rPr lang="en-US" b="1" dirty="0"/>
              <a:t>Inviscid Assumption:</a:t>
            </a:r>
            <a:r>
              <a:rPr lang="en-US" dirty="0"/>
              <a:t> Both the analytic and numerical models assume irrotational flow, neglecting viscous dissipation and boundary layer dynamics entirely.</a:t>
            </a:r>
          </a:p>
          <a:p>
            <a:pPr lvl="1"/>
            <a:r>
              <a:rPr lang="en-US" b="1" dirty="0"/>
              <a:t>Separation Failure: </a:t>
            </a:r>
            <a:r>
              <a:rPr lang="en-US" dirty="0"/>
              <a:t>Due to the inviscid assumption, neither model can predict flow separation or the resulting pressure plateau, failing significantly in regions with adverse pressure gradients.</a:t>
            </a:r>
          </a:p>
          <a:p>
            <a:r>
              <a:rPr lang="en-US" b="1" dirty="0"/>
              <a:t>Conclusions:</a:t>
            </a:r>
          </a:p>
          <a:p>
            <a:pPr lvl="1"/>
            <a:r>
              <a:rPr lang="en-US" b="1" dirty="0"/>
              <a:t>Inviscid Models: </a:t>
            </a:r>
            <a:r>
              <a:rPr lang="en-US" dirty="0"/>
              <a:t>Valid only for the convergent inlet.</a:t>
            </a:r>
          </a:p>
          <a:p>
            <a:pPr lvl="1"/>
            <a:r>
              <a:rPr lang="en-US" b="1" dirty="0"/>
              <a:t>Success: </a:t>
            </a:r>
            <a:r>
              <a:rPr lang="en-US" dirty="0"/>
              <a:t>Source Panel Method can accurately predict pressure drop</a:t>
            </a:r>
          </a:p>
          <a:p>
            <a:pPr lvl="1"/>
            <a:r>
              <a:rPr lang="en-US" b="1" dirty="0"/>
              <a:t>Discrepancy: </a:t>
            </a:r>
            <a:r>
              <a:rPr lang="en-US" dirty="0"/>
              <a:t>Pressure plateau is caused by flow separation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DB174-232B-81B9-E849-6D041C67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8DD33-71CB-31C0-46F1-4F2F0253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454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24528-ADC1-0BED-0D02-B421BE3F1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3306-A1AE-7EB0-03D7-F554771D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dirty="0"/>
              <a:t>[1] Scherer, R. C., Shinwari, D., De Witt, K. J., Zhang, C., </a:t>
            </a:r>
            <a:r>
              <a:rPr lang="en-CA" dirty="0" err="1"/>
              <a:t>Kucinschi</a:t>
            </a:r>
            <a:r>
              <a:rPr lang="en-CA" dirty="0"/>
              <a:t>, B. R., &amp; </a:t>
            </a:r>
            <a:r>
              <a:rPr lang="en-CA" dirty="0" err="1"/>
              <a:t>Afjeh</a:t>
            </a:r>
            <a:r>
              <a:rPr lang="en-CA" dirty="0"/>
              <a:t>, A. A. (2001). </a:t>
            </a:r>
            <a:r>
              <a:rPr lang="en-CA" dirty="0" err="1"/>
              <a:t>Intraglottal</a:t>
            </a:r>
            <a:r>
              <a:rPr lang="en-CA" dirty="0"/>
              <a:t> pressure profiles for a symmetric and oblique glottis with a divergence angle of 10 degrees. </a:t>
            </a:r>
            <a:r>
              <a:rPr lang="en-CA" i="1" dirty="0"/>
              <a:t>J. </a:t>
            </a:r>
            <a:r>
              <a:rPr lang="en-CA" i="1" dirty="0" err="1"/>
              <a:t>Acoust</a:t>
            </a:r>
            <a:r>
              <a:rPr lang="en-CA" i="1" dirty="0"/>
              <a:t>. Soc. Am., 109</a:t>
            </a:r>
            <a:r>
              <a:rPr lang="en-CA" dirty="0"/>
              <a:t>(4), 1616–1630.</a:t>
            </a:r>
          </a:p>
          <a:p>
            <a:pPr marL="0" indent="0">
              <a:buNone/>
            </a:pPr>
            <a:r>
              <a:rPr lang="en-CA" dirty="0"/>
              <a:t>[2] Schoder, S., Wurzer, G., &amp; </a:t>
            </a:r>
            <a:r>
              <a:rPr lang="en-CA" dirty="0" err="1"/>
              <a:t>Kaltenbacher</a:t>
            </a:r>
            <a:r>
              <a:rPr lang="en-CA" dirty="0"/>
              <a:t>, M. (2023). Overview on state-of-the-art numerical modeling of the phonation process. </a:t>
            </a:r>
            <a:r>
              <a:rPr lang="en-CA" i="1" dirty="0"/>
              <a:t>Acta Acustica, 7</a:t>
            </a:r>
            <a:r>
              <a:rPr lang="en-CA" dirty="0"/>
              <a:t>, 1-19.</a:t>
            </a:r>
          </a:p>
          <a:p>
            <a:pPr marL="0" indent="0">
              <a:buNone/>
            </a:pPr>
            <a:r>
              <a:rPr lang="en-CA" dirty="0"/>
              <a:t>[3] </a:t>
            </a:r>
            <a:r>
              <a:rPr lang="en-CA" dirty="0" err="1"/>
              <a:t>Pelorson</a:t>
            </a:r>
            <a:r>
              <a:rPr lang="en-CA" dirty="0"/>
              <a:t>, X., Hirschberg, A., van Hassel, R. R., </a:t>
            </a:r>
            <a:r>
              <a:rPr lang="en-CA" dirty="0" err="1"/>
              <a:t>Wijnands</a:t>
            </a:r>
            <a:r>
              <a:rPr lang="en-CA" dirty="0"/>
              <a:t>, A. P. J., &amp; </a:t>
            </a:r>
            <a:r>
              <a:rPr lang="en-CA" dirty="0" err="1"/>
              <a:t>Aurégan</a:t>
            </a:r>
            <a:r>
              <a:rPr lang="en-CA" dirty="0"/>
              <a:t>, Y. (1994). Theoretical and experimental study of </a:t>
            </a:r>
            <a:r>
              <a:rPr lang="en-CA" dirty="0" err="1"/>
              <a:t>quasisteady</a:t>
            </a:r>
            <a:r>
              <a:rPr lang="en-CA" dirty="0"/>
              <a:t>-flow separation within the glottis during phonation. Application to a modified two-mass model. </a:t>
            </a:r>
            <a:r>
              <a:rPr lang="en-CA" i="1" dirty="0"/>
              <a:t>The Journal of the Acoustical Society of America, 96</a:t>
            </a:r>
            <a:r>
              <a:rPr lang="en-CA" dirty="0"/>
              <a:t>(6), 3416-3431.</a:t>
            </a:r>
          </a:p>
          <a:p>
            <a:pPr marL="0" indent="0">
              <a:buNone/>
            </a:pPr>
            <a:r>
              <a:rPr lang="en-CA" dirty="0"/>
              <a:t>[4] Hess, J. L., &amp; Smith, A. M. O. (1967). Calculation of potential flow about arbitrary bodies. Progress in Aerospace Sciences, 8, 1-138.</a:t>
            </a:r>
          </a:p>
          <a:p>
            <a:pPr marL="0" indent="0">
              <a:buNone/>
            </a:pPr>
            <a:r>
              <a:rPr lang="en-CA" dirty="0"/>
              <a:t>[5] Anderson, J. D. (2017). Fundamentals of Aerodynamics (6th ed.). McGraw-Hill Education.</a:t>
            </a:r>
          </a:p>
          <a:p>
            <a:pPr marL="0" indent="0">
              <a:buNone/>
            </a:pPr>
            <a:r>
              <a:rPr lang="en-CA" dirty="0"/>
              <a:t>[6] Thwaites, B. (1949). Approximate calculation of the laminar boundary layer. Aeronautical Quarterly, 1(3), 245-280.</a:t>
            </a:r>
          </a:p>
          <a:p>
            <a:pPr marL="0" indent="0">
              <a:buNone/>
            </a:pPr>
            <a:r>
              <a:rPr lang="en-CA" dirty="0"/>
              <a:t>[7] White, F. M. (2006). Viscous Fluid Flow (3rd ed.). McGraw-Hill.</a:t>
            </a:r>
          </a:p>
          <a:p>
            <a:pPr marL="0" indent="0">
              <a:buNone/>
            </a:pPr>
            <a:r>
              <a:rPr lang="en-CA" dirty="0"/>
              <a:t>[8] Zong H, </a:t>
            </a:r>
            <a:r>
              <a:rPr lang="en-CA" dirty="0" err="1"/>
              <a:t>Porté</a:t>
            </a:r>
            <a:r>
              <a:rPr lang="en-CA" dirty="0"/>
              <a:t>-Agel F. A momentum-conserving wake superposition method for wind farm power prediction. Journal of Fluid Mechanics. 2020;889:A8. doi:10.1017/jfm.2020.77</a:t>
            </a:r>
          </a:p>
          <a:p>
            <a:pPr marL="0" indent="0">
              <a:buNone/>
            </a:pPr>
            <a:r>
              <a:rPr lang="en-CA" dirty="0"/>
              <a:t>[9] Mittal, R., Erath, B. D., &amp; Plesniak, M. W. (2013). Fluid dynamics of human phonation and speech. Annual Review of Fluid Mechanics, 45, 437-467.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E7B9D-3DFB-200F-5C64-6DC83CD35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01D88-5EDD-3EDC-F0A3-F04C5BE6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30283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AE19A44-AAC1-D943-891E-EC6DE7954967}" vid="{98B83BC1-8754-C848-9B1A-39DC240902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Props1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UofWaterloo_WhiteBkgrd</Template>
  <TotalTime>470</TotalTime>
  <Words>1363</Words>
  <Application>Microsoft Macintosh PowerPoint</Application>
  <PresentationFormat>Widescreen</PresentationFormat>
  <Paragraphs>139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Barlow Condensed</vt:lpstr>
      <vt:lpstr>Calibri</vt:lpstr>
      <vt:lpstr>Cambria Math</vt:lpstr>
      <vt:lpstr>Georgia</vt:lpstr>
      <vt:lpstr>Times New Roman</vt:lpstr>
      <vt:lpstr>Verdana</vt:lpstr>
      <vt:lpstr>Wingdings</vt:lpstr>
      <vt:lpstr>UofWaterloo_WhiteBkgrd</vt:lpstr>
      <vt:lpstr>Glottis Flow</vt:lpstr>
      <vt:lpstr>Introduction and Motivation</vt:lpstr>
      <vt:lpstr>Experimental Apparatus</vt:lpstr>
      <vt:lpstr>Method of Images</vt:lpstr>
      <vt:lpstr>Method of Images - Approach</vt:lpstr>
      <vt:lpstr>Results</vt:lpstr>
      <vt:lpstr>Source Panel Method</vt:lpstr>
      <vt:lpstr>Results</vt:lpstr>
      <vt:lpstr>Boundary Layer Analysis</vt:lpstr>
      <vt:lpstr>Future Work &amp; Improvement of Prediction</vt:lpstr>
      <vt:lpstr>Limitations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Zhu</dc:creator>
  <cp:lastModifiedBy>JD Zhu</cp:lastModifiedBy>
  <cp:revision>7</cp:revision>
  <dcterms:created xsi:type="dcterms:W3CDTF">2025-11-29T18:57:44Z</dcterms:created>
  <dcterms:modified xsi:type="dcterms:W3CDTF">2025-12-01T16:20:48Z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