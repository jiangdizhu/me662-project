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59" r:id="rId6"/>
    <p:sldId id="265" r:id="rId7"/>
    <p:sldId id="276" r:id="rId8"/>
    <p:sldId id="277" r:id="rId9"/>
    <p:sldId id="278" r:id="rId10"/>
    <p:sldId id="262" r:id="rId11"/>
    <p:sldId id="279" r:id="rId12"/>
    <p:sldId id="284" r:id="rId13"/>
    <p:sldId id="283" r:id="rId14"/>
    <p:sldId id="271" r:id="rId15"/>
    <p:sldId id="27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3F00"/>
    <a:srgbClr val="FFFFFF"/>
    <a:srgbClr val="E4B429"/>
    <a:srgbClr val="FFD54F"/>
    <a:srgbClr val="FFEA3D"/>
    <a:srgbClr val="FFFFAA"/>
    <a:srgbClr val="E0249A"/>
    <a:srgbClr val="0073CF"/>
    <a:srgbClr val="57068C"/>
    <a:srgbClr val="FFDB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667" autoAdjust="0"/>
    <p:restoredTop sz="94660"/>
  </p:normalViewPr>
  <p:slideViewPr>
    <p:cSldViewPr snapToGrid="0">
      <p:cViewPr>
        <p:scale>
          <a:sx n="124" d="100"/>
          <a:sy n="124" d="100"/>
        </p:scale>
        <p:origin x="152" y="4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0" d="100"/>
        <a:sy n="3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3928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0E4E57-1CF6-4440-8310-3CBE926400C3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33DC02-E926-F143-BEA7-834664C01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124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8E97C-1779-4CEE-80D0-5BBB1AC4023D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CEF7D1-689C-4BC1-B59B-4A4CE078E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43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University of Waterloo Faculty of Engineering logo">
            <a:extLst>
              <a:ext uri="{FF2B5EF4-FFF2-40B4-BE49-F238E27FC236}">
                <a16:creationId xmlns:a16="http://schemas.microsoft.com/office/drawing/2014/main" id="{930DF486-3438-A340-9F75-BB86BE289D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50" y="5600284"/>
            <a:ext cx="4567498" cy="125543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9605660" cy="1474115"/>
          </a:xfrm>
        </p:spPr>
        <p:txBody>
          <a:bodyPr lIns="0" anchor="b">
            <a:noAutofit/>
          </a:bodyPr>
          <a:lstStyle>
            <a:lvl1pPr algn="l">
              <a:defRPr sz="54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3"/>
          </a:solidFill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pPr/>
              <a:t>11/30/25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/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27E6BEA-9D28-86FA-D573-63E937A96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04DF45C-A64A-062F-9CED-3E842F488317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DB245BA-2894-CA76-0F75-D34749BB9804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20A4491-7F26-FD1F-E922-D16588A2AF7F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4467DA2-12C4-867B-1A08-D4BC12EE3119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B127630-A949-31A6-994A-2119B96BA2FB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15592275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6094124" y="397164"/>
            <a:ext cx="6097876" cy="6460836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5486243" cy="1474115"/>
          </a:xfrm>
        </p:spPr>
        <p:txBody>
          <a:bodyPr lIns="0" anchor="b">
            <a:noAutofit/>
          </a:bodyPr>
          <a:lstStyle>
            <a:lvl1pPr algn="l">
              <a:defRPr sz="54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3"/>
          </a:solidFill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pPr/>
              <a:t>11/30/25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/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 descr="University of Waterloo Faculty of Engineering logo">
            <a:extLst>
              <a:ext uri="{FF2B5EF4-FFF2-40B4-BE49-F238E27FC236}">
                <a16:creationId xmlns:a16="http://schemas.microsoft.com/office/drawing/2014/main" id="{E5E2D7B7-C046-952F-FFBF-CDF3C05A39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50" y="5600284"/>
            <a:ext cx="4567498" cy="1255431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F976B466-9D8C-A8C3-EB96-3631DC2050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AAEAB53-3AF3-394F-5A0D-265C448ECA6E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D4BD0F5-AD43-7157-6853-3CD55084FE74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DF12FAF-5A82-CC83-3020-79FECB6A9B1D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DE8C28B-8279-2C62-9323-C451CFBB2946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9CBBFB6-9B79-D3A2-687E-255A236C9639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31835470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University of Waterloo Faculty of Engineering logo">
            <a:extLst>
              <a:ext uri="{FF2B5EF4-FFF2-40B4-BE49-F238E27FC236}">
                <a16:creationId xmlns:a16="http://schemas.microsoft.com/office/drawing/2014/main" id="{C7842B6A-813C-FA45-B88D-CE413A77FF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49" y="5600284"/>
            <a:ext cx="4567499" cy="125543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9254931" cy="1474115"/>
          </a:xfrm>
        </p:spPr>
        <p:txBody>
          <a:bodyPr lIns="0"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3"/>
          </a:solidFill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pPr/>
              <a:t>11/30/25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769F524-D51C-40DB-F389-1673BFAA4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6859F7A-5A85-CDB2-227D-E72CEFB48AFD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C991028-4405-8861-5C0F-DDCED6AE10C4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10B4E87-130B-529C-B325-CF2152D17DBD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3B4BA68-9EA4-7A22-3621-B9ED64303A72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15C994C-FB53-4A65-2E87-41A181943148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28952265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lack with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6094124" y="397164"/>
            <a:ext cx="6097876" cy="6460836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5486243" cy="1474115"/>
          </a:xfrm>
        </p:spPr>
        <p:txBody>
          <a:bodyPr lIns="0"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3"/>
          </a:solidFill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pPr/>
              <a:t>11/30/25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Picture 12" descr="University of Waterloo Faculty of Engineering logo">
            <a:extLst>
              <a:ext uri="{FF2B5EF4-FFF2-40B4-BE49-F238E27FC236}">
                <a16:creationId xmlns:a16="http://schemas.microsoft.com/office/drawing/2014/main" id="{61486EB2-DBB7-6812-FFCB-C07E1DEE6B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49" y="5600284"/>
            <a:ext cx="4567499" cy="1255431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4CF5075-07D9-F9E3-0595-1A0D8C92F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DD24995-6F05-8ECB-D3BE-0691DF97B918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836C1D7-6B11-F5C9-0533-3719C5ECB00C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69C97C2-B343-C17E-D528-65C442051DD5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8ED34F6-8D98-D192-5DBF-F8BDC1DB62E6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E4B2663-04FA-0615-C4BC-D798630AB8BE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0106763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4B0C9-B47E-4B33-A656-C78D1805DA95}" type="datetime1">
              <a:rPr lang="en-US" smtClean="0"/>
              <a:t>11/30/25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6323211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M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7407696" y="685060"/>
            <a:ext cx="1420859" cy="286052"/>
          </a:xfrm>
        </p:spPr>
        <p:txBody>
          <a:bodyPr anchor="ctr">
            <a:noAutofit/>
          </a:bodyPr>
          <a:lstStyle>
            <a:lvl1pPr marL="0" indent="0" algn="ctr">
              <a:buNone/>
              <a:defRPr sz="11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MENU ITEM 1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8908224" y="685060"/>
            <a:ext cx="1420859" cy="286052"/>
          </a:xfrm>
        </p:spPr>
        <p:txBody>
          <a:bodyPr anchor="ctr">
            <a:noAutofit/>
          </a:bodyPr>
          <a:lstStyle>
            <a:lvl1pPr marL="0" indent="0" algn="ctr">
              <a:buNone/>
              <a:defRPr sz="11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MENU ITEM 2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10408752" y="685060"/>
            <a:ext cx="1420859" cy="286052"/>
          </a:xfrm>
        </p:spPr>
        <p:txBody>
          <a:bodyPr anchor="ctr">
            <a:noAutofit/>
          </a:bodyPr>
          <a:lstStyle>
            <a:lvl1pPr marL="0" indent="0" algn="ctr">
              <a:buNone/>
              <a:defRPr sz="1100" b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MENU ITEM 3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48C228CE-C572-4AF5-9728-AA6E475873DD}" type="datetime1">
              <a:rPr lang="en-US" smtClean="0"/>
              <a:t>11/30/25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9883" y="434108"/>
            <a:ext cx="7046081" cy="895927"/>
          </a:xfrm>
        </p:spPr>
        <p:txBody>
          <a:bodyPr/>
          <a:lstStyle>
            <a:lvl1pPr>
              <a:defRPr b="1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7036257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882" y="1709738"/>
            <a:ext cx="9399507" cy="2852737"/>
          </a:xfrm>
        </p:spPr>
        <p:txBody>
          <a:bodyPr anchor="b">
            <a:normAutofit/>
          </a:bodyPr>
          <a:lstStyle>
            <a:lvl1pPr algn="l">
              <a:defRPr sz="4000" b="1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</a:t>
            </a:r>
            <a:br>
              <a:rPr lang="en-US" dirty="0"/>
            </a:br>
            <a:r>
              <a:rPr lang="en-US" dirty="0"/>
              <a:t>SECTION TITLE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882" y="4589463"/>
            <a:ext cx="9399507" cy="1500187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D43AC-4B94-471D-A170-0D88FCD1FB54}" type="datetime1">
              <a:rPr lang="en-US" smtClean="0"/>
              <a:t>11/30/25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9021156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60521" y="3228200"/>
            <a:ext cx="8770620" cy="1212056"/>
          </a:xfrm>
        </p:spPr>
        <p:txBody>
          <a:bodyPr anchor="b">
            <a:noAutofit/>
          </a:bodyPr>
          <a:lstStyle>
            <a:lvl1pPr algn="l">
              <a:defRPr sz="4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</a:t>
            </a:r>
            <a:br>
              <a:rPr lang="en-US" dirty="0"/>
            </a:br>
            <a:r>
              <a:rPr lang="en-US" dirty="0"/>
              <a:t>SECTION TITLE SLIDE OPTION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960521" y="4448086"/>
            <a:ext cx="8770620" cy="666549"/>
          </a:xfrm>
        </p:spPr>
        <p:txBody>
          <a:bodyPr anchor="t">
            <a:normAutofit/>
          </a:bodyPr>
          <a:lstStyle>
            <a:lvl1pPr marL="0" indent="0" algn="l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72EFF9E2-52BD-4C8D-9C57-79F661DB94A1}" type="datetime1">
              <a:rPr lang="en-US" smtClean="0"/>
              <a:t>11/30/25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78BDD71-5673-C3E4-61B8-8F8F041308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EBF8245-E943-0D71-7CC0-09B6B4E3260B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92D8089-B052-A801-A878-B773A49F8615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53A2417-24CA-2534-65B9-CAFF9B77F07A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ABD4852-C253-61D4-26E8-4222BFD9B55D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6DAFAF2-35DA-8050-8069-401CD4268EFE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42748302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883" y="434108"/>
            <a:ext cx="11569729" cy="895927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9882" y="1413164"/>
            <a:ext cx="5586855" cy="4590472"/>
          </a:xfrm>
        </p:spPr>
        <p:txBody>
          <a:bodyPr/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992" y="1413164"/>
            <a:ext cx="5658620" cy="4590472"/>
          </a:xfrm>
        </p:spPr>
        <p:txBody>
          <a:bodyPr/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81F3-AB4F-4026-8B03-DBF7475676B1}" type="datetime1">
              <a:rPr lang="en-US" smtClean="0"/>
              <a:t>11/30/25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8516483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881" y="1396192"/>
            <a:ext cx="5542713" cy="670270"/>
          </a:xfrm>
        </p:spPr>
        <p:txBody>
          <a:bodyPr anchor="b">
            <a:noAutofit/>
          </a:bodyPr>
          <a:lstStyle>
            <a:lvl1pPr marL="0" indent="0">
              <a:buNone/>
              <a:defRPr sz="2800" b="1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9881" y="2184400"/>
            <a:ext cx="5542713" cy="3846945"/>
          </a:xfrm>
        </p:spPr>
        <p:txBody>
          <a:bodyPr>
            <a:normAutofit/>
          </a:bodyPr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2000"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800"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600"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6154" y="1396192"/>
            <a:ext cx="5593458" cy="670270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6154" y="2184400"/>
            <a:ext cx="5593458" cy="3846945"/>
          </a:xfrm>
        </p:spPr>
        <p:txBody>
          <a:bodyPr>
            <a:normAutofit/>
          </a:bodyPr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2000"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800"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600"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>
          <a:xfrm>
            <a:off x="259883" y="434108"/>
            <a:ext cx="11569729" cy="895927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F432B-3FBE-4889-963D-BF97BFBB7D3F}" type="datetime1">
              <a:rPr lang="en-US" smtClean="0"/>
              <a:t>11/30/25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9598644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CCC04-1E76-41EE-A8AC-75AD85313D09}" type="datetime1">
              <a:rPr lang="en-US" smtClean="0"/>
              <a:t>11/30/25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487075"/>
      </p:ext>
    </p:extLst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74A9E-84AC-4661-9381-CC35B09E47F7}" type="datetime1">
              <a:rPr lang="en-US" smtClean="0"/>
              <a:t>11/30/25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3165608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_NoBkg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1E55829F-8847-4C2A-8DD0-690EAD78E53F}" type="datetime1">
              <a:rPr lang="en-US" smtClean="0"/>
              <a:t>11/30/25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8F0E357-D0D7-C8D3-9BB9-CBCD595E27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F904F2D-EB5B-78C1-C9CD-AD22B98AAF28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33A6C96-3A16-4F62-35CE-95FC1296115C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CB83E9C-7246-D12C-1E4F-7F8C8CACBCB5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AA84279-81BF-BD14-75E3-45D84ED22AE8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6C3DEA0-E90A-8F4E-6FCC-22A0591AE8A4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87678416"/>
      </p:ext>
    </p:extLst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xt or 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30071" y="1237675"/>
            <a:ext cx="4331855" cy="910202"/>
          </a:xfrm>
        </p:spPr>
        <p:txBody>
          <a:bodyPr anchor="b">
            <a:normAutofit/>
          </a:bodyPr>
          <a:lstStyle>
            <a:lvl1pPr algn="ctr">
              <a:defRPr sz="2800" b="1" cap="all" baseline="0"/>
            </a:lvl1pPr>
          </a:lstStyle>
          <a:p>
            <a:r>
              <a:rPr lang="en-US" dirty="0"/>
              <a:t>CONTEXT or THEME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5FDFC970-B950-4395-A833-47227D4A68CA}" type="datetime1">
              <a:rPr lang="en-US" smtClean="0"/>
              <a:t>11/30/25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3930073" y="2244437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3930073" y="4668983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660400" y="2420360"/>
            <a:ext cx="10871200" cy="211455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8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3930072" y="4784725"/>
            <a:ext cx="4331855" cy="27622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200" b="1" cap="all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5B5677E-A76C-D8C2-715E-D2CC90E708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397014F-8428-CB57-EA94-4926AC5048D6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108710D-B7A2-5B78-4CA2-26A7E60D2EA8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CBC1D33-6438-5920-7D04-F461F1F2C24C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584E8BE-411E-3D79-1AEB-CFBE9515CD5B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A2D3D3E-C28F-C346-1738-B63D4769D730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64198111"/>
      </p:ext>
    </p:extLst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xt or Quote with Phot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6350285" y="807867"/>
            <a:ext cx="5440648" cy="544515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54362" y="1237675"/>
            <a:ext cx="4331855" cy="910202"/>
          </a:xfrm>
        </p:spPr>
        <p:txBody>
          <a:bodyPr anchor="b">
            <a:normAutofit/>
          </a:bodyPr>
          <a:lstStyle>
            <a:lvl1pPr algn="ctr">
              <a:defRPr sz="2800" b="1" cap="all" baseline="0"/>
            </a:lvl1pPr>
          </a:lstStyle>
          <a:p>
            <a:r>
              <a:rPr lang="en-US" dirty="0"/>
              <a:t>CONTEXT or THEME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5FDFC970-B950-4395-A833-47227D4A68CA}" type="datetime1">
              <a:rPr lang="en-US" smtClean="0"/>
              <a:t>11/30/25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59882" y="6335309"/>
            <a:ext cx="3887245" cy="250337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479637" y="6335309"/>
            <a:ext cx="1016000" cy="250337"/>
          </a:xfrm>
        </p:spPr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544943" y="2409026"/>
            <a:ext cx="4950694" cy="211455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2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854362" y="4784725"/>
            <a:ext cx="4331855" cy="27622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200" b="1" cap="all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cxnSp>
        <p:nvCxnSpPr>
          <p:cNvPr id="10" name="Straight Connector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4363" y="2244437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4363" y="4668983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288D66E9-C096-F7E5-4608-69F3BFAA0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D20D476-3C3C-17FB-6B9D-62877266FDDD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6A3B59E-EB98-37C9-ABAF-5F298CBCB50F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09ADF04-D661-134D-CEBE-7284FCA07F2A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B66F9EB-2209-AA77-54BB-874DD2429227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E99F41D-6A52-4E41-CCC6-4F322B85979A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3317354"/>
      </p:ext>
    </p:extLst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550988" y="3461559"/>
            <a:ext cx="9070975" cy="598488"/>
          </a:xfrm>
        </p:spPr>
        <p:txBody>
          <a:bodyPr>
            <a:normAutofit/>
          </a:bodyPr>
          <a:lstStyle>
            <a:lvl1pPr marL="0" indent="0" algn="ctr">
              <a:buNone/>
              <a:defRPr sz="32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 err="1"/>
              <a:t>Subheader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591" y="2382981"/>
            <a:ext cx="11569729" cy="1046019"/>
          </a:xfrm>
        </p:spPr>
        <p:txBody>
          <a:bodyPr anchor="b">
            <a:normAutofit/>
          </a:bodyPr>
          <a:lstStyle>
            <a:lvl1pPr algn="ctr">
              <a:defRPr sz="6000" b="1" cap="all" baseline="0"/>
            </a:lvl1pPr>
          </a:lstStyle>
          <a:p>
            <a:r>
              <a:rPr lang="en-US" dirty="0"/>
              <a:t>SECTION DIVIDER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5FDFC970-B950-4395-A833-47227D4A68CA}" type="datetime1">
              <a:rPr lang="en-US" smtClean="0"/>
              <a:t>11/30/25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BE3B45F-F7EF-7AC1-2F71-A8F707B474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E7FF446-A027-DF9C-2EF7-BB8A71A92C25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4DBD243-4CC4-FC6A-A3EF-134F0475518A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51E8B32-A35D-0923-E7EE-4693F5A56614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04998BE-5F59-2840-05C4-7AFCED90F6C7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71EFAE3-6B14-DE22-01D0-2E8AFF7CD36A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67728093"/>
      </p:ext>
    </p:extLst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550988" y="3461559"/>
            <a:ext cx="9070975" cy="598488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 err="1"/>
              <a:t>Subheader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591" y="2382981"/>
            <a:ext cx="11569729" cy="1046019"/>
          </a:xfrm>
        </p:spPr>
        <p:txBody>
          <a:bodyPr anchor="b">
            <a:normAutofit/>
          </a:bodyPr>
          <a:lstStyle>
            <a:lvl1pPr algn="ctr">
              <a:defRPr sz="60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DIVIDER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FDFC970-B950-4395-A833-47227D4A68CA}" type="datetime1">
              <a:rPr lang="en-US" smtClean="0"/>
              <a:pPr/>
              <a:t>11/30/25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5364A90-0797-F96E-F770-FF1A12CE0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4350EA6-F3C3-B71A-2AE8-59D702686268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DFD5CBB-2458-6136-9C90-A6C4B927AC9B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B84D87D-DBE9-B3EF-FFB3-C2AFE2A77403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F1F04D2-CB9A-2272-4643-01B4FAAC4398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36161E2-6AF6-CD93-0C7B-DE95E53B4B4C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66828729"/>
      </p:ext>
    </p:extLst>
  </p:cSld>
  <p:clrMapOvr>
    <a:masterClrMapping/>
  </p:clrMapOvr>
  <p:transition spd="slow">
    <p:push dir="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550988" y="3461559"/>
            <a:ext cx="9070975" cy="598488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 err="1"/>
              <a:t>Subheader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591" y="2382981"/>
            <a:ext cx="11569729" cy="1046019"/>
          </a:xfrm>
        </p:spPr>
        <p:txBody>
          <a:bodyPr anchor="b">
            <a:normAutofit/>
          </a:bodyPr>
          <a:lstStyle>
            <a:lvl1pPr algn="ctr">
              <a:defRPr sz="60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DIVIDER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FDFC970-B950-4395-A833-47227D4A68CA}" type="datetime1">
              <a:rPr lang="en-US" smtClean="0"/>
              <a:pPr/>
              <a:t>11/30/25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AAC575D-0FA9-A38D-9797-156B5AA8A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72D70FB-ADA6-5E6E-29B1-A1623DE361B1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A40349B-8324-5C56-8910-78C4E6366CCD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D12A301-E6DF-7760-3D01-B0933E87104E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5F068C1-6FE1-DFD6-F0F5-A3F1F8A8E5CD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93460B5-979B-9830-988B-CA56409C364F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35022777"/>
      </p:ext>
    </p:extLst>
  </p:cSld>
  <p:clrMapOvr>
    <a:masterClrMapping/>
  </p:clrMapOvr>
  <p:transition spd="slow">
    <p:push dir="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57225" y="4581236"/>
            <a:ext cx="10877550" cy="1597891"/>
          </a:xfrm>
          <a:noFill/>
        </p:spPr>
        <p:txBody>
          <a:bodyPr wrap="square" rtlCol="0" anchor="ctr" anchorCtr="1">
            <a:noAutofit/>
          </a:bodyPr>
          <a:lstStyle>
            <a:lvl1pPr algn="ctr">
              <a:defRPr lang="en-US" sz="1800" b="0" i="0" cap="none" baseline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pPr marL="0" lvl="0" algn="ctr">
              <a:lnSpc>
                <a:spcPct val="75000"/>
              </a:lnSpc>
            </a:pPr>
            <a:r>
              <a:rPr lang="en-US" dirty="0"/>
              <a:t>Click to edit master closing slide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75D660D7-90CE-4513-A3CE-C070B9421917}" type="datetime1">
              <a:rPr lang="en-US" smtClean="0"/>
              <a:t>11/30/25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 descr="University of Waterloo Faculty of Engineering logo">
            <a:extLst>
              <a:ext uri="{FF2B5EF4-FFF2-40B4-BE49-F238E27FC236}">
                <a16:creationId xmlns:a16="http://schemas.microsoft.com/office/drawing/2014/main" id="{08F22C7D-C1E2-3043-B369-F9AA670BFC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47927" y="985586"/>
            <a:ext cx="6096143" cy="40752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07CA9BB1-9C2E-4569-BE1D-5D7F529E6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A410A60-FA9B-1ECF-958F-BC27BB5C2E95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CC5613F-FE3A-A7CF-B132-7779C8C132EE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EE9D1A7-9583-C584-47EB-0627750BD7CF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D6DCD87-2E74-CDA8-1BA0-3DE81AD3380C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FD214E4-DEB6-B4CF-DF1D-A1A345D13201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69677358"/>
      </p:ext>
    </p:extLst>
  </p:cSld>
  <p:clrMapOvr>
    <a:masterClrMapping/>
  </p:clrMapOvr>
  <p:transition spd="slow">
    <p:push dir="u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3425" y="4682836"/>
            <a:ext cx="10725150" cy="1559782"/>
          </a:xfrm>
          <a:noFill/>
        </p:spPr>
        <p:txBody>
          <a:bodyPr wrap="square" rtlCol="0" anchor="ctr" anchorCtr="1">
            <a:noAutofit/>
          </a:bodyPr>
          <a:lstStyle>
            <a:lvl1pPr marL="0" algn="ctr">
              <a:lnSpc>
                <a:spcPct val="75000"/>
              </a:lnSpc>
              <a:defRPr lang="en-US" sz="1800" b="0" i="0">
                <a:solidFill>
                  <a:schemeClr val="bg1">
                    <a:alpha val="81000"/>
                  </a:schemeClr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pPr marL="0" lvl="0" algn="ctr">
              <a:lnSpc>
                <a:spcPct val="75000"/>
              </a:lnSpc>
            </a:pPr>
            <a:r>
              <a:rPr lang="en-US" dirty="0"/>
              <a:t>Click to edit master closing slide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A368D4B-3D0A-49AB-8EA2-2DC8CB4594DB}" type="datetime1">
              <a:rPr lang="en-US" smtClean="0"/>
              <a:pPr/>
              <a:t>11/30/25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University of Waterloo Faculty of Engineering logo">
            <a:extLst>
              <a:ext uri="{FF2B5EF4-FFF2-40B4-BE49-F238E27FC236}">
                <a16:creationId xmlns:a16="http://schemas.microsoft.com/office/drawing/2014/main" id="{B312827E-EAC5-3946-AC23-03E04566DD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47928" y="985586"/>
            <a:ext cx="6096143" cy="4075200"/>
          </a:xfrm>
          <a:prstGeom prst="rect">
            <a:avLst/>
          </a:prstGeom>
          <a:effectLst/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B8C08A7A-273E-2AF6-423F-B3A31B4E8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6364F3F-3B82-84E7-CBE7-02C3AEE04520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0B8ADAC-7828-B63A-D5DA-453F6E05F127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D015563-E92F-C342-9A7D-30F6A4E8A031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A7D1E3D-066D-CE3E-D814-48C37B5F91F3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511196A-9E52-FC64-5031-EB102393BE10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22082862"/>
      </p:ext>
    </p:extLst>
  </p:cSld>
  <p:clrMapOvr>
    <a:masterClrMapping/>
  </p:clrMapOvr>
  <p:transition spd="slow">
    <p:push dir="u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losing Slide_Y+W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A368D4B-3D0A-49AB-8EA2-2DC8CB4594DB}" type="datetime1">
              <a:rPr lang="en-US" smtClean="0"/>
              <a:pPr/>
              <a:t>11/30/25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University of Waterloo Faculty of Engineering logo">
            <a:extLst>
              <a:ext uri="{FF2B5EF4-FFF2-40B4-BE49-F238E27FC236}">
                <a16:creationId xmlns:a16="http://schemas.microsoft.com/office/drawing/2014/main" id="{B312827E-EAC5-3946-AC23-03E04566DD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47928" y="799131"/>
            <a:ext cx="6096143" cy="4075200"/>
          </a:xfrm>
          <a:prstGeom prst="rect">
            <a:avLst/>
          </a:prstGeom>
          <a:effectLst/>
        </p:spPr>
      </p:pic>
      <p:pic>
        <p:nvPicPr>
          <p:cNvPr id="16" name="Picture 15" descr="YOU+WATERLOO">
            <a:extLst>
              <a:ext uri="{FF2B5EF4-FFF2-40B4-BE49-F238E27FC236}">
                <a16:creationId xmlns:a16="http://schemas.microsoft.com/office/drawing/2014/main" id="{447C4EF9-A5C2-5947-9C94-BD3C8A011B2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87315" y="4854114"/>
            <a:ext cx="1817370" cy="5143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B13A5EE-7ACD-F44B-B9D4-9E14E16B8E1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37482" y="5539328"/>
            <a:ext cx="3717036" cy="243459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65551F98-0A77-9BFF-9522-8E7ECCBB7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1BD5278-A732-132E-D1BB-5FC1F8CDD5E2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BF4F076-A524-9C72-246E-4632FB7B6835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966D408-FB48-5753-CC50-CD16F619FAFA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B35BE29-48EB-34E3-E99E-5D6ECC453C11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53627FE-0E92-6205-F722-7C260F139C8A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21874654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University of Waterloo Faculty of Engineering logo">
            <a:extLst>
              <a:ext uri="{FF2B5EF4-FFF2-40B4-BE49-F238E27FC236}">
                <a16:creationId xmlns:a16="http://schemas.microsoft.com/office/drawing/2014/main" id="{75D18FC7-EB3D-A142-853C-7A6BC4BDE92C}"/>
              </a:ext>
            </a:extLst>
          </p:cNvPr>
          <p:cNvPicPr>
            <a:picLocks noChangeAspect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19902" y="5992113"/>
            <a:ext cx="3262499" cy="896736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883" y="434108"/>
            <a:ext cx="11569729" cy="8959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882" y="1413163"/>
            <a:ext cx="11569729" cy="45951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38014" y="6335309"/>
            <a:ext cx="1181114" cy="250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5FDFC970-B950-4395-A833-47227D4A68CA}" type="datetime1">
              <a:rPr lang="en-US" smtClean="0"/>
              <a:t>11/30/25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9882" y="6335309"/>
            <a:ext cx="5226517" cy="250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88000" y="6335309"/>
            <a:ext cx="1016000" cy="250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6" name="Rectangle 15"/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73700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714" r:id="rId2"/>
    <p:sldLayoutId id="2147483715" r:id="rId3"/>
    <p:sldLayoutId id="2147483716" r:id="rId4"/>
    <p:sldLayoutId id="2147483670" r:id="rId5"/>
    <p:sldLayoutId id="2147483693" r:id="rId6"/>
    <p:sldLayoutId id="2147483671" r:id="rId7"/>
    <p:sldLayoutId id="2147483690" r:id="rId8"/>
    <p:sldLayoutId id="2147483672" r:id="rId9"/>
    <p:sldLayoutId id="2147483673" r:id="rId10"/>
    <p:sldLayoutId id="2147483674" r:id="rId11"/>
    <p:sldLayoutId id="2147483675" r:id="rId12"/>
    <p:sldLayoutId id="2147483710" r:id="rId13"/>
    <p:sldLayoutId id="2147483717" r:id="rId14"/>
    <p:sldLayoutId id="2147483718" r:id="rId15"/>
    <p:sldLayoutId id="2147483719" r:id="rId16"/>
    <p:sldLayoutId id="2147483720" r:id="rId17"/>
    <p:sldLayoutId id="2147483721" r:id="rId18"/>
    <p:sldLayoutId id="2147483712" r:id="rId19"/>
    <p:sldLayoutId id="2147483713" r:id="rId20"/>
    <p:sldLayoutId id="2147483723" r:id="rId21"/>
  </p:sldLayoutIdLst>
  <p:transition spd="slow">
    <p:push dir="u"/>
  </p:transition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kern="1200" spc="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8925" indent="-288925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jiangdizhu/ME662-Project.git" TargetMode="Externa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Glottis Flow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1474115"/>
          </a:xfrm>
        </p:spPr>
        <p:txBody>
          <a:bodyPr>
            <a:normAutofit/>
          </a:bodyPr>
          <a:lstStyle/>
          <a:p>
            <a:r>
              <a:rPr lang="en-US" dirty="0"/>
              <a:t>JD</a:t>
            </a:r>
            <a:br>
              <a:rPr lang="en-US" dirty="0"/>
            </a:br>
            <a:r>
              <a:rPr lang="en-US" dirty="0"/>
              <a:t>ME 662 Advanced Fluid Mechanics</a:t>
            </a:r>
          </a:p>
          <a:p>
            <a:r>
              <a:rPr lang="en-US" dirty="0"/>
              <a:t>December 2, 2025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12/02/2025</a:t>
            </a:r>
          </a:p>
        </p:txBody>
      </p:sp>
    </p:spTree>
    <p:extLst>
      <p:ext uri="{BB962C8B-B14F-4D97-AF65-F5344CB8AC3E}">
        <p14:creationId xmlns:p14="http://schemas.microsoft.com/office/powerpoint/2010/main" val="114863653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17FFA-DDC1-A0CB-C115-2F0864C4C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and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4472A-105D-E7F9-7D26-1FD1C4819A5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The Physics of Voice: </a:t>
            </a:r>
          </a:p>
          <a:p>
            <a:pPr lvl="1"/>
            <a:r>
              <a:rPr lang="en-US" dirty="0"/>
              <a:t>Voice is produced by airflow through the larynx (glottis). </a:t>
            </a:r>
          </a:p>
          <a:p>
            <a:pPr lvl="1"/>
            <a:r>
              <a:rPr lang="en-US" dirty="0"/>
              <a:t>The </a:t>
            </a:r>
            <a:r>
              <a:rPr lang="en-US" dirty="0" err="1"/>
              <a:t>intraglottal</a:t>
            </a:r>
            <a:r>
              <a:rPr lang="en-US" dirty="0"/>
              <a:t> pressure profile drives the vocal fold oscillation. </a:t>
            </a:r>
          </a:p>
          <a:p>
            <a:r>
              <a:rPr lang="en-US" b="1" dirty="0"/>
              <a:t>The Problem: </a:t>
            </a:r>
          </a:p>
          <a:p>
            <a:pPr lvl="1"/>
            <a:r>
              <a:rPr lang="en-US" dirty="0"/>
              <a:t>Modeling airflow in the human larynx (glottis) is complex and computationally expensive (usually requires full Navier-Stokes simulations). </a:t>
            </a:r>
          </a:p>
          <a:p>
            <a:pPr lvl="1"/>
            <a:r>
              <a:rPr lang="en-US" dirty="0"/>
              <a:t>There is a need for faster, simplified models to estimate the aerodynamic driving forces of speech. </a:t>
            </a:r>
          </a:p>
          <a:p>
            <a:r>
              <a:rPr lang="en-US" b="1" dirty="0"/>
              <a:t>Project Objective: </a:t>
            </a:r>
          </a:p>
          <a:p>
            <a:pPr lvl="1"/>
            <a:r>
              <a:rPr lang="en-US" dirty="0"/>
              <a:t>Develop increasingly sophisticated simplified models based on Potential Flow Theory to predict pressures. </a:t>
            </a:r>
          </a:p>
          <a:p>
            <a:pPr lvl="1"/>
            <a:r>
              <a:rPr lang="en-US" dirty="0"/>
              <a:t>Validate the model against benchmark experimental data (Scherer et al., 2001).</a:t>
            </a:r>
          </a:p>
          <a:p>
            <a:r>
              <a:rPr lang="en-CA" dirty="0"/>
              <a:t>The python </a:t>
            </a:r>
            <a:r>
              <a:rPr lang="en-CA" dirty="0" err="1"/>
              <a:t>implmentation</a:t>
            </a:r>
            <a:r>
              <a:rPr lang="en-CA" dirty="0"/>
              <a:t> can be found at </a:t>
            </a:r>
            <a:r>
              <a:rPr lang="en-CA" u="sng" dirty="0">
                <a:hlinkClick r:id="rId2"/>
              </a:rPr>
              <a:t>https://github.com/jiangdizhu/ME662-Project.git</a:t>
            </a:r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CB1FC-FAA4-A1C8-06B0-30BD407CF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Glottis Flow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14A56-2B5F-5400-66F1-D24999A5D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AB7AA2E3-C27F-1489-7B54-504A220FB44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3483" y="1412875"/>
            <a:ext cx="5653697" cy="4591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752135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2EEDA67-1D2F-9406-43E5-FF874011E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9881" y="1176273"/>
            <a:ext cx="5542713" cy="670270"/>
          </a:xfrm>
        </p:spPr>
        <p:txBody>
          <a:bodyPr/>
          <a:lstStyle/>
          <a:p>
            <a:r>
              <a:rPr lang="en-US" dirty="0"/>
              <a:t>Setup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AD58A3-6B52-545A-4A27-FEBF9340E7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36154" y="1176273"/>
            <a:ext cx="5593458" cy="670270"/>
          </a:xfrm>
        </p:spPr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11" name="Content Placeholder 10" descr="A diagram of a pressure drop&#10;&#10;AI-generated content may be incorrect.">
            <a:extLst>
              <a:ext uri="{FF2B5EF4-FFF2-40B4-BE49-F238E27FC236}">
                <a16:creationId xmlns:a16="http://schemas.microsoft.com/office/drawing/2014/main" id="{DCC48CB1-7192-88BC-20F0-A7F303D0BF79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2198" y="1964481"/>
            <a:ext cx="3021353" cy="3846513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F28F625A-07E9-303B-678F-3AD6A33AC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Apparatus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CCDFABB-B614-BA06-8BC1-683095197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Glottis Flow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E393407-799D-91A8-1264-D1D7B2D60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9" name="Content Placeholder 6" descr="A drawing of a rectangular object&#10;&#10;AI-generated content may be incorrect.">
            <a:extLst>
              <a:ext uri="{FF2B5EF4-FFF2-40B4-BE49-F238E27FC236}">
                <a16:creationId xmlns:a16="http://schemas.microsoft.com/office/drawing/2014/main" id="{8FC0D8DB-983D-2399-1589-14CFE191364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237" y="1964481"/>
            <a:ext cx="3092189" cy="3846513"/>
          </a:xfr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9AE2031-DCF6-9849-99F7-F7918B388410}"/>
              </a:ext>
            </a:extLst>
          </p:cNvPr>
          <p:cNvSpPr txBox="1"/>
          <p:nvPr/>
        </p:nvSpPr>
        <p:spPr>
          <a:xfrm>
            <a:off x="259881" y="5786750"/>
            <a:ext cx="115697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Figures adapted from Scherer, R. C., Shinwari, D., De Witt, K. J., Zhang, C., </a:t>
            </a:r>
            <a:r>
              <a:rPr lang="en-CA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Kucinschi</a:t>
            </a:r>
            <a:r>
              <a:rPr lang="en-CA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B. R., &amp; </a:t>
            </a:r>
            <a:r>
              <a:rPr lang="en-CA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Afjeh</a:t>
            </a:r>
            <a:r>
              <a:rPr lang="en-CA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A. A. (2001). </a:t>
            </a:r>
            <a:r>
              <a:rPr lang="en-CA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Intraglottal</a:t>
            </a:r>
            <a:r>
              <a:rPr lang="en-CA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pressure profiles for a symmetric and oblique glottis with a divergence angle of 10 degrees. </a:t>
            </a:r>
            <a:r>
              <a:rPr lang="en-CA" sz="10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J. </a:t>
            </a:r>
            <a:r>
              <a:rPr lang="en-CA" sz="10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Acoust</a:t>
            </a:r>
            <a:r>
              <a:rPr lang="en-CA" sz="10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Soc. Am., 109</a:t>
            </a:r>
            <a:r>
              <a:rPr lang="en-CA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(4), 1616–1630.</a:t>
            </a:r>
            <a:r>
              <a:rPr lang="en-CA" sz="1000" dirty="0">
                <a:effectLst/>
              </a:rPr>
              <a:t> 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288776984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AE553-E0F4-6B62-908E-5489A71AE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of Images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9E74C0-53AE-BB82-072A-090E68DF112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US" b="1" dirty="0"/>
                  <a:t>Concept: </a:t>
                </a:r>
              </a:p>
              <a:p>
                <a:pPr lvl="1"/>
                <a:r>
                  <a:rPr lang="en-US" dirty="0"/>
                  <a:t>Start with the simplest possible mathematical representation: Method of Images. </a:t>
                </a:r>
              </a:p>
              <a:p>
                <a:pPr lvl="1"/>
                <a:r>
                  <a:rPr lang="en-US" dirty="0"/>
                  <a:t>Approximated the glottal constriction as two opposing semicircles. </a:t>
                </a:r>
              </a:p>
              <a:p>
                <a:r>
                  <a:rPr lang="en-US" b="1" dirty="0"/>
                  <a:t>Formulation: </a:t>
                </a:r>
              </a:p>
              <a:p>
                <a:pPr lvl="1"/>
                <a:r>
                  <a:rPr lang="en-US" dirty="0"/>
                  <a:t>Superposition of Uniform Flow + Infinite Series of Doublets. </a:t>
                </a:r>
              </a:p>
              <a:p>
                <a:pPr lvl="1"/>
                <a:r>
                  <a:rPr lang="en-US" dirty="0"/>
                  <a:t>Derivation using complex potential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dirty="0"/>
                  <a:t> to satisfy boundary conditions.</a:t>
                </a:r>
              </a:p>
              <a:p>
                <a:r>
                  <a:rPr lang="en-US" b="1" dirty="0"/>
                  <a:t>Why this approach? </a:t>
                </a:r>
              </a:p>
              <a:p>
                <a:pPr lvl="1"/>
                <a:r>
                  <a:rPr lang="en-US" dirty="0"/>
                  <a:t>An exact, closed-form solution for pressure and velocity. </a:t>
                </a:r>
              </a:p>
              <a:p>
                <a:pPr lvl="1"/>
                <a:r>
                  <a:rPr lang="en-US" dirty="0"/>
                  <a:t>Extremely fast computation time.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9E74C0-53AE-BB82-072A-090E68DF11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454" t="-1657" b="-1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EE56F6-453E-2740-633D-ED520B5B8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Glottis Flow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0BA510-061C-4E6B-5AB2-B5D5FE656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9" name="Content Placeholder 8" descr="A diagram of a field&#10;&#10;AI-generated content may be incorrect.">
            <a:extLst>
              <a:ext uri="{FF2B5EF4-FFF2-40B4-BE49-F238E27FC236}">
                <a16:creationId xmlns:a16="http://schemas.microsoft.com/office/drawing/2014/main" id="{60780855-96FF-F641-EDD5-06D13D07A52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8618" y="3696084"/>
            <a:ext cx="3600000" cy="1800000"/>
          </a:xfrm>
          <a:prstGeom prst="rect">
            <a:avLst/>
          </a:prstGeom>
        </p:spPr>
      </p:pic>
      <p:pic>
        <p:nvPicPr>
          <p:cNvPr id="10" name="Picture 9" descr="A diagram of a red and grey rectangular object with a blue center&#10;&#10;AI-generated content may be incorrect.">
            <a:extLst>
              <a:ext uri="{FF2B5EF4-FFF2-40B4-BE49-F238E27FC236}">
                <a16:creationId xmlns:a16="http://schemas.microsoft.com/office/drawing/2014/main" id="{98E02804-31FC-1292-A765-374885BB074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8618" y="1629000"/>
            <a:ext cx="3600794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422383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4B69E-C9A5-9075-4037-31062A72B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of Images - Approach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5C3FDD-1F43-CA7D-B1C9-C47146CBB45E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CA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p>
                        <m:r>
                          <a:rPr lang="en-CA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CA">
                        <a:latin typeface="Cambria Math" panose="02040503050406030204" pitchFamily="18" charset="0"/>
                      </a:rPr>
                      <m:t>ψ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CA" dirty="0"/>
              </a:p>
              <a:p>
                <a:pPr lvl="0"/>
                <a:r>
                  <a:rPr lang="en-CA" dirty="0"/>
                  <a:t>Boundary Conditions: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>
                        <a:latin typeface="Cambria Math" panose="02040503050406030204" pitchFamily="18" charset="0"/>
                      </a:rPr>
                      <m:t>ψ</m:t>
                    </m:r>
                    <m:d>
                      <m:d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,0</m:t>
                        </m:r>
                      </m:e>
                    </m:d>
                    <m:r>
                      <a:rPr lang="en-CA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CA" dirty="0"/>
                  <a:t> (Bottom wall)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>
                        <a:latin typeface="Cambria Math" panose="02040503050406030204" pitchFamily="18" charset="0"/>
                      </a:rPr>
                      <m:t>ψ</m:t>
                    </m:r>
                    <m:d>
                      <m:d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CA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𝑈𝐷</m:t>
                    </m:r>
                  </m:oMath>
                </a14:m>
                <a:r>
                  <a:rPr lang="en-CA" dirty="0"/>
                  <a:t> (Top wall)</a:t>
                </a: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i="1">
                            <a:latin typeface="Cambria Math" panose="02040503050406030204" pitchFamily="18" charset="0"/>
                          </a:rPr>
                          <m:t>𝑑𝑊</m:t>
                        </m:r>
                      </m:num>
                      <m:den>
                        <m:r>
                          <a:rPr lang="en-CA" i="1">
                            <a:latin typeface="Cambria Math" panose="02040503050406030204" pitchFamily="18" charset="0"/>
                          </a:rPr>
                          <m:t>𝑑𝑧</m:t>
                        </m:r>
                      </m:den>
                    </m:f>
                    <m:r>
                      <a:rPr lang="en-CA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CA" dirty="0"/>
                  <a:t> as 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CA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CA" dirty="0"/>
                  <a:t> (Upstream uniform flow)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>
                        <a:latin typeface="Cambria Math" panose="02040503050406030204" pitchFamily="18" charset="0"/>
                      </a:rPr>
                      <m:t>ψ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lang="en-CA" dirty="0"/>
                  <a:t>on the bump at 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CA" dirty="0"/>
                  <a:t> (approximated by a doublet).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>
                        <a:latin typeface="Cambria Math" panose="02040503050406030204" pitchFamily="18" charset="0"/>
                      </a:rPr>
                      <m:t>ψ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𝑈𝐷</m:t>
                    </m:r>
                  </m:oMath>
                </a14:m>
                <a:r>
                  <a:rPr lang="en-CA" dirty="0"/>
                  <a:t> on the bump at 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𝐷𝑖</m:t>
                    </m:r>
                  </m:oMath>
                </a14:m>
                <a:r>
                  <a:rPr lang="en-CA" dirty="0"/>
                  <a:t> (approximated by a doublet).</a:t>
                </a:r>
              </a:p>
              <a:p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CA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𝑓𝑙𝑜𝑤</m:t>
                        </m:r>
                      </m:sub>
                    </m:sSub>
                    <m:d>
                      <m:d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CA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d>
                      <m:d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CA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endParaRPr lang="en-CA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𝑓𝑙𝑜𝑤</m:t>
                        </m:r>
                      </m:sub>
                    </m:sSub>
                    <m:d>
                      <m:d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CA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𝑈𝑧</m:t>
                    </m:r>
                  </m:oMath>
                </a14:m>
                <a:r>
                  <a:rPr lang="en-CA" dirty="0"/>
                  <a:t> </a:t>
                </a:r>
              </a:p>
              <a:p>
                <a:endParaRPr lang="en-CA" dirty="0"/>
              </a:p>
              <a:p>
                <a:pPr marL="0" indent="0">
                  <a:buNone/>
                </a:pPr>
                <a:endParaRPr lang="en-CA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5C3FDD-1F43-CA7D-B1C9-C47146CBB4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4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4ABD294-1860-078A-66A3-E74514F8E364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A"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CA" dirty="0"/>
                  <a:t> at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=2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𝑛𝐷𝑖</m:t>
                    </m:r>
                  </m:oMath>
                </a14:m>
                <a:r>
                  <a:rPr lang="en-CA" dirty="0"/>
                  <a:t> for 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 = 0, </m:t>
                    </m:r>
                    <m:r>
                      <a:rPr lang="en-CA">
                        <a:latin typeface="Cambria Math" panose="02040503050406030204" pitchFamily="18" charset="0"/>
                      </a:rPr>
                      <m:t>±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1, </m:t>
                    </m:r>
                    <m:r>
                      <a:rPr lang="en-CA">
                        <a:latin typeface="Cambria Math" panose="02040503050406030204" pitchFamily="18" charset="0"/>
                      </a:rPr>
                      <m:t>±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2, </m:t>
                    </m:r>
                    <m:r>
                      <a:rPr lang="en-CA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lang="en-CA" dirty="0"/>
                  <a:t>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A"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CA" i="1" dirty="0">
                    <a:latin typeface="Cambria Math" panose="02040503050406030204" pitchFamily="18" charset="0"/>
                  </a:rPr>
                  <a:t> </a:t>
                </a:r>
                <a:r>
                  <a:rPr lang="en-CA" dirty="0"/>
                  <a:t>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CA" i="1">
                        <a:latin typeface="Cambria Math" panose="02040503050406030204" pitchFamily="18" charset="0"/>
                      </a:rPr>
                      <m:t>𝐷𝑖</m:t>
                    </m:r>
                  </m:oMath>
                </a14:m>
                <a:r>
                  <a:rPr lang="en-CA" dirty="0"/>
                  <a:t> for 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 = 0, </m:t>
                    </m:r>
                    <m:r>
                      <a:rPr lang="en-CA">
                        <a:latin typeface="Cambria Math" panose="02040503050406030204" pitchFamily="18" charset="0"/>
                      </a:rPr>
                      <m:t>±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1, </m:t>
                    </m:r>
                    <m:r>
                      <a:rPr lang="en-CA">
                        <a:latin typeface="Cambria Math" panose="02040503050406030204" pitchFamily="18" charset="0"/>
                      </a:rPr>
                      <m:t>±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2, </m:t>
                    </m:r>
                    <m:r>
                      <a:rPr lang="en-CA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lang="en-CA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d>
                      <m:d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CA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CA">
                                <a:latin typeface="Cambria Math" panose="02040503050406030204" pitchFamily="18" charset="0"/>
                              </a:rPr>
                              <m:t>μ</m:t>
                            </m:r>
                          </m:e>
                          <m:sub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CA"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CA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  <m:func>
                      <m:func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CA">
                            <a:latin typeface="Cambria Math" panose="02040503050406030204" pitchFamily="18" charset="0"/>
                          </a:rPr>
                          <m:t>coth</m:t>
                        </m:r>
                      </m:fName>
                      <m:e>
                        <m:d>
                          <m:d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CA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CA"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num>
                              <m:den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CA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CA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CA">
                                <a:latin typeface="Cambria Math" panose="02040503050406030204" pitchFamily="18" charset="0"/>
                              </a:rPr>
                              <m:t>μ</m:t>
                            </m:r>
                          </m:e>
                          <m:sub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CA"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CA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  <m:func>
                      <m:func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CA">
                            <a:latin typeface="Cambria Math" panose="02040503050406030204" pitchFamily="18" charset="0"/>
                          </a:rPr>
                          <m:t>tanh</m:t>
                        </m:r>
                      </m:fName>
                      <m:e>
                        <m:d>
                          <m:d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CA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CA"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num>
                              <m:den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CA" dirty="0"/>
              </a:p>
              <a:p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CA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𝑈𝑧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func>
                      <m:func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CA">
                            <a:latin typeface="Cambria Math" panose="02040503050406030204" pitchFamily="18" charset="0"/>
                          </a:rPr>
                          <m:t>coth</m:t>
                        </m:r>
                      </m:fName>
                      <m:e>
                        <m:d>
                          <m:d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CA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CA"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num>
                              <m:den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en-CA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func>
                      <m:func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CA">
                            <a:latin typeface="Cambria Math" panose="02040503050406030204" pitchFamily="18" charset="0"/>
                          </a:rPr>
                          <m:t>tanh</m:t>
                        </m:r>
                      </m:fName>
                      <m:e>
                        <m:d>
                          <m:d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CA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CA"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num>
                              <m:den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CA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CA"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𝑈</m:t>
                        </m:r>
                        <m:sSubSup>
                          <m:sSubSup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  <m:sup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CA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</m:oMath>
                </a14:m>
                <a:r>
                  <a:rPr lang="en-CA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CA"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𝑈</m:t>
                        </m:r>
                        <m:sSubSup>
                          <m:sSubSup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CA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</m:oMath>
                </a14:m>
                <a:r>
                  <a:rPr lang="en-CA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CA" sz="2300" i="1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CA" sz="2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3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CA" sz="23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sz="2300" i="1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begChr m:val="["/>
                        <m:endChr m:val="]"/>
                        <m:ctrlPr>
                          <a:rPr lang="en-CA" sz="2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300" i="1"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CA" sz="23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CA" sz="23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CA" sz="23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en-CA" sz="2300"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  <m:sSub>
                                      <m:sSubPr>
                                        <m:ctrlPr>
                                          <a:rPr lang="en-CA" sz="2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CA" sz="2300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CA" sz="2300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CA" sz="23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CA" sz="2300" i="1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CA" sz="23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CA" sz="23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CA" sz="2300"/>
                              <m:t>csch</m:t>
                            </m:r>
                          </m:e>
                          <m:sup>
                            <m:r>
                              <a:rPr lang="en-CA" sz="23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en-CA" sz="23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CA" sz="23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CA" sz="2300"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  <m:r>
                                  <a:rPr lang="en-CA" sz="23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num>
                              <m:den>
                                <m:r>
                                  <a:rPr lang="en-CA" sz="23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CA" sz="2300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den>
                            </m:f>
                          </m:e>
                        </m:d>
                        <m:r>
                          <a:rPr lang="en-CA" sz="2300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CA" sz="23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CA" sz="23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CA" sz="23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en-CA" sz="2300"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  <m:sSub>
                                      <m:sSubPr>
                                        <m:ctrlPr>
                                          <a:rPr lang="en-CA" sz="2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CA" sz="2300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CA" sz="2300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CA" sz="23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CA" sz="2300" i="1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CA" sz="23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CA" sz="23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CA" sz="2300"/>
                              <m:t>sech</m:t>
                            </m:r>
                          </m:e>
                          <m:sup>
                            <m:r>
                              <a:rPr lang="en-CA" sz="23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en-CA" sz="23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CA" sz="23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CA" sz="2300"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  <m:r>
                                  <a:rPr lang="en-CA" sz="23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num>
                              <m:den>
                                <m:r>
                                  <a:rPr lang="en-CA" sz="23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CA" sz="2300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lang="en-CA" sz="2300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CA" i="1">
                        <a:latin typeface="Cambria Math" panose="02040503050406030204" pitchFamily="18" charset="0"/>
                      </a:rPr>
                      <m:t>=1−</m:t>
                    </m:r>
                    <m:f>
                      <m:f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CA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d>
                                  <m:dPr>
                                    <m:ctrlP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p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CA" dirty="0"/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4ABD294-1860-078A-66A3-E74514F8E3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447" t="-1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5D0DE4-D94D-BE6B-CEDA-3FE24AC15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Glottis Flow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18CC6C-B21F-E470-6F25-BF4B833E9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99328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EED15-BEE1-F269-7C1C-5942EE6A0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449A1-D1BD-423E-7D2C-B6D5AAF5648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Comparison with Data: </a:t>
            </a:r>
          </a:p>
          <a:p>
            <a:pPr lvl="1"/>
            <a:r>
              <a:rPr lang="en-US" dirty="0"/>
              <a:t>Convergent Section: Some agreement. The model accurately predicts the pressure drop as flow accelerates. </a:t>
            </a:r>
          </a:p>
          <a:p>
            <a:pPr lvl="1"/>
            <a:r>
              <a:rPr lang="en-US" dirty="0"/>
              <a:t>Divergent Section: Significant Discrepancy. </a:t>
            </a:r>
          </a:p>
          <a:p>
            <a:pPr lvl="2"/>
            <a:r>
              <a:rPr lang="en-US" dirty="0"/>
              <a:t>Huge pressure drop.</a:t>
            </a:r>
          </a:p>
          <a:p>
            <a:pPr lvl="2"/>
            <a:r>
              <a:rPr lang="en-US" dirty="0"/>
              <a:t>Model predicts full pressure recovery.</a:t>
            </a:r>
          </a:p>
          <a:p>
            <a:pPr lvl="2"/>
            <a:r>
              <a:rPr lang="en-US" dirty="0"/>
              <a:t>Experiment shows a "Pressure Plateau”.</a:t>
            </a:r>
          </a:p>
          <a:p>
            <a:r>
              <a:rPr lang="en-US" b="1" dirty="0"/>
              <a:t>Limitation:</a:t>
            </a:r>
          </a:p>
          <a:p>
            <a:pPr lvl="1"/>
            <a:r>
              <a:rPr lang="en-US" dirty="0"/>
              <a:t>Is this error due to the Semicircular Geometry approximation? </a:t>
            </a:r>
          </a:p>
          <a:p>
            <a:pPr lvl="1"/>
            <a:r>
              <a:rPr lang="en-US" dirty="0"/>
              <a:t>Need to refine the geometry to match the experiment exactly.</a:t>
            </a:r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F0387E-BE06-0D63-DF47-316145C8E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Glottis Flow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6A3D5-A8DC-4AB3-CF12-48DF6FC1C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7" name="Content Placeholder 6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9D39CAB1-1632-9250-953D-DFEB563D5BD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0613" y="1821921"/>
            <a:ext cx="5659437" cy="3772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570296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E71DB-630E-D0A6-9611-46852DAFB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 Panel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AD789-F5F1-88A3-1C02-A95983BF5BF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Refinement: </a:t>
            </a:r>
          </a:p>
          <a:p>
            <a:pPr lvl="1"/>
            <a:r>
              <a:rPr lang="en-US" dirty="0"/>
              <a:t>Source Panel Method to better approximate the experimental geometry. </a:t>
            </a:r>
          </a:p>
          <a:p>
            <a:r>
              <a:rPr lang="en-US" b="1" dirty="0"/>
              <a:t>Implementation: </a:t>
            </a:r>
          </a:p>
          <a:p>
            <a:pPr lvl="1"/>
            <a:r>
              <a:rPr lang="en-US" dirty="0"/>
              <a:t>Discretized the channel wall into N panels with uniform source distributions. </a:t>
            </a:r>
          </a:p>
          <a:p>
            <a:pPr lvl="1"/>
            <a:r>
              <a:rPr lang="en-US" dirty="0"/>
              <a:t>Solved linear system for source strengths to satisfy BC. </a:t>
            </a:r>
          </a:p>
          <a:p>
            <a:r>
              <a:rPr lang="en-US" b="1" dirty="0"/>
              <a:t>Goal: </a:t>
            </a:r>
          </a:p>
          <a:p>
            <a:pPr lvl="1"/>
            <a:r>
              <a:rPr lang="en-US" dirty="0"/>
              <a:t>Determine if correct geometry more accurately predict pressure drop.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0E490C2-71D2-F8F1-6921-B2BDA49F277B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CA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CA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CA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CA">
                                <a:latin typeface="Cambria Math" panose="02040503050406030204" pitchFamily="18" charset="0"/>
                              </a:rPr>
                              <m:t>ϕ</m:t>
                            </m:r>
                          </m:e>
                          <m:sub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d>
                          <m:d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nary>
                  </m:oMath>
                </a14:m>
                <a:endParaRPr lang="en-CA" dirty="0"/>
              </a:p>
              <a:p>
                <a:r>
                  <a:rPr lang="en-CA" dirty="0"/>
                  <a:t>Map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CA" dirty="0"/>
                  <a:t> to a local coordinate system 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CA">
                            <a:latin typeface="Cambria Math" panose="02040503050406030204" pitchFamily="18" charset="0"/>
                          </a:rPr>
                          <m:t>ξ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CA">
                            <a:latin typeface="Cambria Math" panose="02040503050406030204" pitchFamily="18" charset="0"/>
                          </a:rPr>
                          <m:t>η</m:t>
                        </m:r>
                      </m:e>
                    </m:d>
                  </m:oMath>
                </a14:m>
                <a:r>
                  <a:rPr lang="en-CA" dirty="0"/>
                  <a:t> fixed to panel j, where the 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>
                        <a:latin typeface="Cambria Math" panose="02040503050406030204" pitchFamily="18" charset="0"/>
                      </a:rPr>
                      <m:t>ξ</m:t>
                    </m:r>
                  </m:oMath>
                </a14:m>
                <a:r>
                  <a:rPr lang="en-CA" dirty="0"/>
                  <a:t>-axis lies along the panel from 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CA" dirty="0"/>
                  <a:t> to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CA" dirty="0"/>
                  <a:t>, and the 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>
                        <a:latin typeface="Cambria Math" panose="02040503050406030204" pitchFamily="18" charset="0"/>
                      </a:rPr>
                      <m:t>η</m:t>
                    </m:r>
                  </m:oMath>
                </a14:m>
                <a:r>
                  <a:rPr lang="en-CA" dirty="0"/>
                  <a:t>-axis is normal to it.</a:t>
                </a:r>
                <a:r>
                  <a:rPr lang="en-CA" dirty="0">
                    <a:effectLst/>
                  </a:rPr>
                  <a:t> </a:t>
                </a:r>
                <a:endParaRPr lang="en-CA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A">
                            <a:latin typeface="Cambria Math" panose="02040503050406030204" pitchFamily="18" charset="0"/>
                          </a:rPr>
                          <m:t>ϕ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CA">
                            <a:latin typeface="Cambria Math" panose="02040503050406030204" pitchFamily="18" charset="0"/>
                          </a:rPr>
                          <m:t>ξ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CA">
                            <a:latin typeface="Cambria Math" panose="02040503050406030204" pitchFamily="18" charset="0"/>
                          </a:rPr>
                          <m:t>η</m:t>
                        </m:r>
                      </m:e>
                    </m:d>
                    <m:r>
                      <a:rPr lang="en-CA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CA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num>
                      <m:den>
                        <m:r>
                          <a:rPr lang="en-CA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CA"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nary>
                      <m:nary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sSub>
                          <m:sSub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p>
                      <m:e>
                        <m:func>
                          <m:func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CA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ad>
                              <m:radPr>
                                <m:degHide m:val="on"/>
                                <m:ctrlPr>
                                  <a:rPr lang="en-CA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sSupPr>
                                    <m:ctrlP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CA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CA" i="1">
                                            <a:latin typeface="Cambria Math" panose="02040503050406030204" pitchFamily="18" charset="0"/>
                                          </a:rPr>
                                          <m:t>𝜉</m:t>
                                        </m:r>
                                        <m:r>
                                          <a:rPr lang="en-CA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CA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  <m:t>𝜂</m:t>
                                    </m:r>
                                  </m:e>
                                  <m:sup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e>
                        </m:func>
                        <m:r>
                          <a:rPr lang="en-CA" i="1"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endParaRPr lang="en-CA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>
                            <a:latin typeface="Cambria Math" panose="02040503050406030204" pitchFamily="18" charset="0"/>
                          </a:rPr>
                          <m:t>ξ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CA">
                            <a:latin typeface="Cambria Math" panose="02040503050406030204" pitchFamily="18" charset="0"/>
                          </a:rPr>
                          <m:t>ϕ</m:t>
                        </m:r>
                      </m:num>
                      <m:den>
                        <m:r>
                          <a:rPr lang="en-CA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CA">
                            <a:latin typeface="Cambria Math" panose="02040503050406030204" pitchFamily="18" charset="0"/>
                          </a:rPr>
                          <m:t>ξ</m:t>
                        </m:r>
                      </m:den>
                    </m:f>
                    <m:r>
                      <a:rPr lang="en-CA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CA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num>
                      <m:den>
                        <m:r>
                          <a:rPr lang="en-CA" i="1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CA"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func>
                      <m:func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CA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CA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CA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CA">
                                            <a:latin typeface="Cambria Math" panose="02040503050406030204" pitchFamily="18" charset="0"/>
                                          </a:rPr>
                                          <m:t>ξ</m:t>
                                        </m:r>
                                        <m:r>
                                          <a:rPr lang="en-CA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CA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CA" i="1">
                                                <a:latin typeface="Cambria Math" panose="02040503050406030204" pitchFamily="18" charset="0"/>
                                              </a:rPr>
                                              <m:t>𝐿</m:t>
                                            </m:r>
                                          </m:e>
                                          <m:sub>
                                            <m:r>
                                              <a:rPr lang="en-CA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CA">
                                        <a:latin typeface="Cambria Math" panose="02040503050406030204" pitchFamily="18" charset="0"/>
                                      </a:rPr>
                                      <m:t>η</m:t>
                                    </m:r>
                                  </m:e>
                                  <m:sup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sSupPr>
                                    <m:ctrlP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CA">
                                        <a:latin typeface="Cambria Math" panose="02040503050406030204" pitchFamily="18" charset="0"/>
                                      </a:rPr>
                                      <m:t>ξ</m:t>
                                    </m:r>
                                  </m:e>
                                  <m:sup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CA">
                                        <a:latin typeface="Cambria Math" panose="02040503050406030204" pitchFamily="18" charset="0"/>
                                      </a:rPr>
                                      <m:t>η</m:t>
                                    </m:r>
                                  </m:e>
                                  <m:sup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CA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>
                            <a:latin typeface="Cambria Math" panose="02040503050406030204" pitchFamily="18" charset="0"/>
                          </a:rPr>
                          <m:t>η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CA">
                            <a:latin typeface="Cambria Math" panose="02040503050406030204" pitchFamily="18" charset="0"/>
                          </a:rPr>
                          <m:t>ϕ</m:t>
                        </m:r>
                      </m:num>
                      <m:den>
                        <m:r>
                          <a:rPr lang="en-CA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CA">
                            <a:latin typeface="Cambria Math" panose="02040503050406030204" pitchFamily="18" charset="0"/>
                          </a:rPr>
                          <m:t>η</m:t>
                        </m:r>
                      </m:den>
                    </m:f>
                    <m:r>
                      <a:rPr lang="en-CA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CA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num>
                      <m:den>
                        <m:r>
                          <a:rPr lang="en-CA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CA"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CA">
                                <a:latin typeface="Cambria Math" panose="02040503050406030204" pitchFamily="18" charset="0"/>
                              </a:rPr>
                              <m:t>arctan</m:t>
                            </m:r>
                          </m:fName>
                          <m:e>
                            <m:d>
                              <m:dPr>
                                <m:ctrlPr>
                                  <a:rPr lang="en-CA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en-CA">
                                        <a:latin typeface="Cambria Math" panose="02040503050406030204" pitchFamily="18" charset="0"/>
                                      </a:rPr>
                                      <m:t>η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en-CA">
                                        <a:latin typeface="Cambria Math" panose="02040503050406030204" pitchFamily="18" charset="0"/>
                                      </a:rPr>
                                      <m:t>ξ</m:t>
                                    </m:r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CA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CA" i="1">
                                            <a:latin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e>
                                      <m:sub>
                                        <m:r>
                                          <a:rPr lang="en-CA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</m:func>
                        <m:r>
                          <a:rPr lang="en-CA" i="1"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CA">
                                <a:latin typeface="Cambria Math" panose="02040503050406030204" pitchFamily="18" charset="0"/>
                              </a:rPr>
                              <m:t>arctan</m:t>
                            </m:r>
                          </m:fName>
                          <m:e>
                            <m:d>
                              <m:dPr>
                                <m:ctrlPr>
                                  <a:rPr lang="en-CA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en-CA">
                                        <a:latin typeface="Cambria Math" panose="02040503050406030204" pitchFamily="18" charset="0"/>
                                      </a:rPr>
                                      <m:t>η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en-CA">
                                        <a:latin typeface="Cambria Math" panose="02040503050406030204" pitchFamily="18" charset="0"/>
                                      </a:rPr>
                                      <m:t>ξ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</m:e>
                    </m:d>
                  </m:oMath>
                </a14:m>
                <a:endParaRPr lang="en-CA" dirty="0"/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CA"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CA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CA" dirty="0"/>
              </a:p>
              <a:p>
                <a:r>
                  <a:rPr lang="en-US" dirty="0"/>
                  <a:t>Solve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=−</m:t>
                    </m:r>
                    <m:acc>
                      <m:accPr>
                        <m:chr m:val="⃗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CA">
                                <a:latin typeface="Cambria Math" panose="02040503050406030204" pitchFamily="18" charset="0"/>
                              </a:rPr>
                              <m:t>∞</m:t>
                            </m:r>
                          </m:sub>
                        </m:sSub>
                      </m:e>
                    </m:acc>
                    <m:r>
                      <a:rPr lang="en-CA"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endParaRPr lang="en-CA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=1−</m:t>
                    </m:r>
                    <m:sSup>
                      <m:sSup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CA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lang="en-CA">
                                        <a:latin typeface="Cambria Math" panose="02040503050406030204" pitchFamily="18" charset="0"/>
                                      </a:rPr>
                                      <m:t>∞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  <m:sup>
                        <m:r>
                          <a:rPr lang="en-CA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0E490C2-71D2-F8F1-6921-B2BDA49F27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t="-7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672417-4734-EAC8-C3FD-C3373E1F4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Glottis Flow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133FD-98F9-2577-A6BE-73C4143A6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0992290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52079-0C5B-3C2C-0C23-9F6BBB720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883" y="434108"/>
            <a:ext cx="11569729" cy="895927"/>
          </a:xfrm>
        </p:spPr>
        <p:txBody>
          <a:bodyPr anchor="ctr">
            <a:normAutofit/>
          </a:bodyPr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9079A-FD0A-F5C8-4A7A-808DF8C693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9882" y="1413164"/>
            <a:ext cx="5586855" cy="459047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700" b="1" dirty="0"/>
              <a:t>Results: </a:t>
            </a:r>
          </a:p>
          <a:p>
            <a:pPr lvl="1">
              <a:lnSpc>
                <a:spcPct val="90000"/>
              </a:lnSpc>
            </a:pPr>
            <a:r>
              <a:rPr lang="en-US" sz="1700" dirty="0"/>
              <a:t>The Source Panel Method captures the smooth wall profile perfectly. </a:t>
            </a:r>
          </a:p>
          <a:p>
            <a:pPr lvl="1">
              <a:lnSpc>
                <a:spcPct val="90000"/>
              </a:lnSpc>
            </a:pPr>
            <a:r>
              <a:rPr lang="en-US" sz="1700" dirty="0"/>
              <a:t>Pressure drop prediction match the experiment.</a:t>
            </a:r>
          </a:p>
          <a:p>
            <a:pPr lvl="1">
              <a:lnSpc>
                <a:spcPct val="90000"/>
              </a:lnSpc>
            </a:pPr>
            <a:r>
              <a:rPr lang="en-US" sz="1700" dirty="0"/>
              <a:t>The pressure recovery profile remains incorrect (still rises sharply). </a:t>
            </a:r>
          </a:p>
          <a:p>
            <a:pPr>
              <a:lnSpc>
                <a:spcPct val="90000"/>
              </a:lnSpc>
            </a:pPr>
            <a:r>
              <a:rPr lang="en-US" sz="1700" b="1" dirty="0"/>
              <a:t>Critical Finding: </a:t>
            </a:r>
          </a:p>
          <a:p>
            <a:pPr lvl="1">
              <a:lnSpc>
                <a:spcPct val="90000"/>
              </a:lnSpc>
            </a:pPr>
            <a:r>
              <a:rPr lang="en-US" sz="1700" dirty="0"/>
              <a:t>Geometry is not the limiting factor. </a:t>
            </a:r>
          </a:p>
          <a:p>
            <a:pPr lvl="1">
              <a:lnSpc>
                <a:spcPct val="90000"/>
              </a:lnSpc>
            </a:pPr>
            <a:r>
              <a:rPr lang="en-US" sz="1700" dirty="0"/>
              <a:t>Pure Potential Flow (Inviscid) theory cannot predict the wake behavior in the divergent section. </a:t>
            </a:r>
          </a:p>
          <a:p>
            <a:pPr>
              <a:lnSpc>
                <a:spcPct val="90000"/>
              </a:lnSpc>
            </a:pPr>
            <a:r>
              <a:rPr lang="en-US" sz="1700" b="1" dirty="0"/>
              <a:t>Conclusion: </a:t>
            </a:r>
            <a:r>
              <a:rPr lang="en-US" sz="1700" dirty="0"/>
              <a:t>The Simplified Model must include viscous effects to predict the pressure plateau.</a:t>
            </a:r>
          </a:p>
        </p:txBody>
      </p:sp>
      <p:pic>
        <p:nvPicPr>
          <p:cNvPr id="7" name="Content Placeholder 9">
            <a:extLst>
              <a:ext uri="{FF2B5EF4-FFF2-40B4-BE49-F238E27FC236}">
                <a16:creationId xmlns:a16="http://schemas.microsoft.com/office/drawing/2014/main" id="{1B1826A6-DE78-94C6-DF47-71598EA70A1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70992" y="1819835"/>
            <a:ext cx="5658620" cy="3777129"/>
          </a:xfrm>
          <a:prstGeom prst="rect">
            <a:avLst/>
          </a:prstGeom>
          <a:noFill/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DB661-DAF3-8FB9-07DC-C9C9F29B8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9882" y="6335309"/>
            <a:ext cx="5226517" cy="250337"/>
          </a:xfrm>
        </p:spPr>
        <p:txBody>
          <a:bodyPr anchor="ctr">
            <a:normAutofit/>
          </a:bodyPr>
          <a:lstStyle/>
          <a:p>
            <a:r>
              <a:rPr lang="en-US" dirty="0"/>
              <a:t>Glottis Flow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68ABFA-E587-5C7D-DEBC-297C10208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8000" y="6335309"/>
            <a:ext cx="1016000" cy="250337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PAGE  </a:t>
            </a:r>
            <a:fld id="{93005692-73BE-493E-93AB-ECD6027A7652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341033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B45A2-7CB0-5301-36CC-374F0FC5F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Boundary Layer Analysis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B76928-58DD-1D2F-7D27-ECC22F39CBA0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dirty="0"/>
                  <a:t>Quantifying the Failure: </a:t>
                </a:r>
              </a:p>
              <a:p>
                <a:pPr lvl="1"/>
                <a:r>
                  <a:rPr lang="en-US" dirty="0"/>
                  <a:t>Applied Thwaites' method to the potential flow velocity profile.</a:t>
                </a:r>
              </a:p>
              <a:p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CA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CA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𝜈</m:t>
                        </m:r>
                      </m:den>
                    </m:f>
                    <m:f>
                      <m:fPr>
                        <m:ctrlPr>
                          <a:rPr lang="en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num>
                      <m:den>
                        <m:r>
                          <a:rPr lang="en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drops below separation criterion at just after the throat.</a:t>
                </a:r>
              </a:p>
              <a:p>
                <a:r>
                  <a:rPr lang="en-US" dirty="0"/>
                  <a:t>The adverse pressure gradient immediately triggers laminar separation. </a:t>
                </a:r>
              </a:p>
              <a:p>
                <a:r>
                  <a:rPr lang="en-US" dirty="0"/>
                  <a:t>This separation creates the "plateau" observed in experiments.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B76928-58DD-1D2F-7D27-ECC22F39CB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907" t="-829" r="-13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Content Placeholder 7" descr="A graph of a diagram&#10;&#10;AI-generated content may be incorrect.">
            <a:extLst>
              <a:ext uri="{FF2B5EF4-FFF2-40B4-BE49-F238E27FC236}">
                <a16:creationId xmlns:a16="http://schemas.microsoft.com/office/drawing/2014/main" id="{80EED114-D79A-C42E-E8C2-3759C95D7CF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8688" y="1412875"/>
            <a:ext cx="3443287" cy="4591050"/>
          </a:xfr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7AB8C-44B6-B7BD-1371-D95932C73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Glottis Flow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3C225-36C3-AF0B-CC5B-7722839D9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509415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FFC30-9FE1-4896-F3FC-0ADF03626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 &amp; Improvement of Prediction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DC57A-ACC9-1207-6023-69E802AE201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Viscous-Inviscid Interaction</a:t>
            </a:r>
          </a:p>
          <a:p>
            <a:pPr lvl="1"/>
            <a:r>
              <a:rPr lang="en-US" b="1" dirty="0"/>
              <a:t>Concept: </a:t>
            </a:r>
            <a:r>
              <a:rPr lang="en-US" dirty="0"/>
              <a:t>Couple the Panel Method with an integral boundary layer solver.</a:t>
            </a:r>
          </a:p>
          <a:p>
            <a:pPr lvl="1"/>
            <a:r>
              <a:rPr lang="en-US" b="1" dirty="0"/>
              <a:t>Benefit: </a:t>
            </a:r>
            <a:r>
              <a:rPr lang="en-US" dirty="0"/>
              <a:t>Captures the "squeezing" effect of the boundary layer on the core flow.</a:t>
            </a:r>
          </a:p>
          <a:p>
            <a:pPr lvl="1"/>
            <a:r>
              <a:rPr lang="en-US" b="1" dirty="0"/>
              <a:t>Difficulty: </a:t>
            </a:r>
            <a:r>
              <a:rPr lang="en-US" dirty="0"/>
              <a:t>Ill-posed (Goldstein’s Singularity at Separation), stability, stiff, need a hybrid solution. </a:t>
            </a:r>
          </a:p>
          <a:p>
            <a:r>
              <a:rPr lang="en-US" dirty="0"/>
              <a:t>CFD (RANS/URANS/LES)</a:t>
            </a:r>
          </a:p>
          <a:p>
            <a:pPr lvl="1"/>
            <a:r>
              <a:rPr lang="en-US" b="1" dirty="0"/>
              <a:t>Concept:</a:t>
            </a:r>
            <a:r>
              <a:rPr lang="en-US" dirty="0"/>
              <a:t> Move beyond potential flow to simulate turbulence and jet mixing.</a:t>
            </a:r>
          </a:p>
          <a:p>
            <a:pPr lvl="1"/>
            <a:r>
              <a:rPr lang="en-US" b="1" dirty="0"/>
              <a:t>Benefit:</a:t>
            </a:r>
            <a:r>
              <a:rPr lang="en-US" dirty="0"/>
              <a:t> Captures the complex vortex dynamics in the supraglottal region.</a:t>
            </a:r>
          </a:p>
          <a:p>
            <a:pPr lvl="1"/>
            <a:r>
              <a:rPr lang="en-US" b="1" dirty="0"/>
              <a:t>Difficulty: </a:t>
            </a:r>
            <a:r>
              <a:rPr lang="en-US" dirty="0"/>
              <a:t>Computationally expensive</a:t>
            </a:r>
          </a:p>
          <a:p>
            <a:pPr lvl="1"/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652376-4285-5EF0-00EF-27EFB46F5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Glottis Flow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7BEC8-E738-BBC5-A03F-69EA12A6A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7" name="Content Placeholder 6" descr="A red and green rectangular object with blue background&#10;&#10;AI-generated content may be incorrect.">
            <a:extLst>
              <a:ext uri="{FF2B5EF4-FFF2-40B4-BE49-F238E27FC236}">
                <a16:creationId xmlns:a16="http://schemas.microsoft.com/office/drawing/2014/main" id="{6EED028C-5867-C1F9-C354-65106AD7BA0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2296" y="1465271"/>
            <a:ext cx="3507229" cy="1975536"/>
          </a:xfrm>
          <a:prstGeom prst="rect">
            <a:avLst/>
          </a:prstGeom>
        </p:spPr>
      </p:pic>
      <p:pic>
        <p:nvPicPr>
          <p:cNvPr id="8" name="Picture 7" descr="A graph of a graph&#10;&#10;AI-generated content may be incorrect.">
            <a:extLst>
              <a:ext uri="{FF2B5EF4-FFF2-40B4-BE49-F238E27FC236}">
                <a16:creationId xmlns:a16="http://schemas.microsoft.com/office/drawing/2014/main" id="{AC53B52A-546D-B7A5-7FA2-F4CEDB0A29C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6328" y="3843636"/>
            <a:ext cx="3703197" cy="2160000"/>
          </a:xfrm>
          <a:prstGeom prst="rect">
            <a:avLst/>
          </a:prstGeom>
        </p:spPr>
      </p:pic>
      <p:pic>
        <p:nvPicPr>
          <p:cNvPr id="9" name="Content Placeholder 6" descr="A red and green rectangular object with blue background&#10;&#10;AI-generated content may be incorrect.">
            <a:extLst>
              <a:ext uri="{FF2B5EF4-FFF2-40B4-BE49-F238E27FC236}">
                <a16:creationId xmlns:a16="http://schemas.microsoft.com/office/drawing/2014/main" id="{AA524E2E-F272-D45E-F051-2EC0C7E21A5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673" t="40195" r="43741" b="49220"/>
          <a:stretch>
            <a:fillRect/>
          </a:stretch>
        </p:blipFill>
        <p:spPr>
          <a:xfrm>
            <a:off x="9915666" y="1037566"/>
            <a:ext cx="1753613" cy="987767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3A6D0DF5-CBDB-EB6F-C671-2E643CCC9171}"/>
              </a:ext>
            </a:extLst>
          </p:cNvPr>
          <p:cNvSpPr/>
          <p:nvPr/>
        </p:nvSpPr>
        <p:spPr>
          <a:xfrm>
            <a:off x="9223514" y="2266122"/>
            <a:ext cx="198782" cy="198783"/>
          </a:xfrm>
          <a:prstGeom prst="ellipse">
            <a:avLst/>
          </a:prstGeom>
          <a:noFill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485B266-5693-16DA-89FF-1BB0848A75D6}"/>
              </a:ext>
            </a:extLst>
          </p:cNvPr>
          <p:cNvCxnSpPr>
            <a:cxnSpLocks/>
            <a:stCxn id="9" idx="1"/>
            <a:endCxn id="10" idx="7"/>
          </p:cNvCxnSpPr>
          <p:nvPr/>
        </p:nvCxnSpPr>
        <p:spPr>
          <a:xfrm flipH="1">
            <a:off x="9393185" y="1531450"/>
            <a:ext cx="522481" cy="7637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1104036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322CE-2DD2-9E33-1FEA-CC39556F1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and 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4A5B7-A976-CAB7-E16B-44C5D9C23F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Limitations: </a:t>
            </a:r>
          </a:p>
          <a:p>
            <a:pPr lvl="1"/>
            <a:r>
              <a:rPr lang="en-US" b="1" dirty="0"/>
              <a:t>Geometric Constraints: </a:t>
            </a:r>
            <a:r>
              <a:rPr lang="en-US" dirty="0"/>
              <a:t>The analytic Method of Images is restricted to semicircular constrictions, preventing the modeling of the gradual 10-degree divergent channel used in experimental benchmarks.</a:t>
            </a:r>
          </a:p>
          <a:p>
            <a:pPr lvl="1"/>
            <a:r>
              <a:rPr lang="en-US" b="1" dirty="0"/>
              <a:t>Inviscid Assumption:</a:t>
            </a:r>
            <a:r>
              <a:rPr lang="en-US" dirty="0"/>
              <a:t> Both the analytic and numerical models assume irrotational flow, neglecting viscous dissipation and boundary layer dynamics entirely.</a:t>
            </a:r>
          </a:p>
          <a:p>
            <a:pPr lvl="1"/>
            <a:r>
              <a:rPr lang="en-US" b="1" dirty="0"/>
              <a:t>Separation Failure: </a:t>
            </a:r>
            <a:r>
              <a:rPr lang="en-US" dirty="0"/>
              <a:t>Due to the inviscid assumption, neither model can predict flow separation or the resulting pressure plateau, failing significantly in regions with adverse pressure gradients.</a:t>
            </a:r>
          </a:p>
          <a:p>
            <a:r>
              <a:rPr lang="en-US" b="1" dirty="0"/>
              <a:t>Conclusions:</a:t>
            </a:r>
          </a:p>
          <a:p>
            <a:pPr lvl="1"/>
            <a:r>
              <a:rPr lang="en-US" b="1" dirty="0"/>
              <a:t>Inviscid Models: </a:t>
            </a:r>
            <a:r>
              <a:rPr lang="en-US" dirty="0"/>
              <a:t>Valid only for the convergent inlet.</a:t>
            </a:r>
          </a:p>
          <a:p>
            <a:pPr lvl="1"/>
            <a:r>
              <a:rPr lang="en-US" b="1" dirty="0"/>
              <a:t>Success: </a:t>
            </a:r>
            <a:r>
              <a:rPr lang="en-US" dirty="0"/>
              <a:t>Source Panel Method can accurately predict pressure drop</a:t>
            </a:r>
          </a:p>
          <a:p>
            <a:pPr lvl="1"/>
            <a:r>
              <a:rPr lang="en-US" b="1" dirty="0"/>
              <a:t>Discrepancy: </a:t>
            </a:r>
            <a:r>
              <a:rPr lang="en-US" dirty="0"/>
              <a:t>Pressure plateau is caused by flow separation</a:t>
            </a:r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FDB174-232B-81B9-E849-6D041C67E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Glottis Flow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78DD33-71CB-31C0-46F1-4F2F0253C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645445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24528-ADC1-0BED-0D02-B421BE3F1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03306-A1AE-7EB0-03D7-F554771D2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CA" dirty="0"/>
              <a:t>[1] Scherer, R. C., Shinwari, D., De Witt, K. J., Zhang, C., </a:t>
            </a:r>
            <a:r>
              <a:rPr lang="en-CA" dirty="0" err="1"/>
              <a:t>Kucinschi</a:t>
            </a:r>
            <a:r>
              <a:rPr lang="en-CA" dirty="0"/>
              <a:t>, B. R., &amp; </a:t>
            </a:r>
            <a:r>
              <a:rPr lang="en-CA" dirty="0" err="1"/>
              <a:t>Afjeh</a:t>
            </a:r>
            <a:r>
              <a:rPr lang="en-CA" dirty="0"/>
              <a:t>, A. A. (2001). </a:t>
            </a:r>
            <a:r>
              <a:rPr lang="en-CA" dirty="0" err="1"/>
              <a:t>Intraglottal</a:t>
            </a:r>
            <a:r>
              <a:rPr lang="en-CA" dirty="0"/>
              <a:t> pressure profiles for a symmetric and oblique glottis with a divergence angle of 10 degrees. </a:t>
            </a:r>
            <a:r>
              <a:rPr lang="en-CA" i="1" dirty="0"/>
              <a:t>J. </a:t>
            </a:r>
            <a:r>
              <a:rPr lang="en-CA" i="1" dirty="0" err="1"/>
              <a:t>Acoust</a:t>
            </a:r>
            <a:r>
              <a:rPr lang="en-CA" i="1" dirty="0"/>
              <a:t>. Soc. Am., 109</a:t>
            </a:r>
            <a:r>
              <a:rPr lang="en-CA" dirty="0"/>
              <a:t>(4), 1616–1630.</a:t>
            </a:r>
          </a:p>
          <a:p>
            <a:pPr marL="0" indent="0">
              <a:buNone/>
            </a:pPr>
            <a:r>
              <a:rPr lang="en-CA" dirty="0"/>
              <a:t>[2] Schoder, S., Wurzer, G., &amp; </a:t>
            </a:r>
            <a:r>
              <a:rPr lang="en-CA" dirty="0" err="1"/>
              <a:t>Kaltenbacher</a:t>
            </a:r>
            <a:r>
              <a:rPr lang="en-CA" dirty="0"/>
              <a:t>, M. (2023). Overview on state-of-the-art numerical modeling of the phonation process. </a:t>
            </a:r>
            <a:r>
              <a:rPr lang="en-CA" i="1" dirty="0"/>
              <a:t>Acta Acustica, 7</a:t>
            </a:r>
            <a:r>
              <a:rPr lang="en-CA" dirty="0"/>
              <a:t>, 1-19.</a:t>
            </a:r>
          </a:p>
          <a:p>
            <a:pPr marL="0" indent="0">
              <a:buNone/>
            </a:pPr>
            <a:r>
              <a:rPr lang="en-CA" dirty="0"/>
              <a:t>[3] </a:t>
            </a:r>
            <a:r>
              <a:rPr lang="en-CA" dirty="0" err="1"/>
              <a:t>Pelorson</a:t>
            </a:r>
            <a:r>
              <a:rPr lang="en-CA" dirty="0"/>
              <a:t>, X., Hirschberg, A., van Hassel, R. R., </a:t>
            </a:r>
            <a:r>
              <a:rPr lang="en-CA" dirty="0" err="1"/>
              <a:t>Wijnands</a:t>
            </a:r>
            <a:r>
              <a:rPr lang="en-CA" dirty="0"/>
              <a:t>, A. P. J., &amp; </a:t>
            </a:r>
            <a:r>
              <a:rPr lang="en-CA" dirty="0" err="1"/>
              <a:t>Aurégan</a:t>
            </a:r>
            <a:r>
              <a:rPr lang="en-CA" dirty="0"/>
              <a:t>, Y. (1994). Theoretical and experimental study of </a:t>
            </a:r>
            <a:r>
              <a:rPr lang="en-CA" dirty="0" err="1"/>
              <a:t>quasisteady</a:t>
            </a:r>
            <a:r>
              <a:rPr lang="en-CA" dirty="0"/>
              <a:t>-flow separation within the glottis during phonation. Application to a modified two-mass model. </a:t>
            </a:r>
            <a:r>
              <a:rPr lang="en-CA" i="1" dirty="0"/>
              <a:t>The Journal of the Acoustical Society of America, 96</a:t>
            </a:r>
            <a:r>
              <a:rPr lang="en-CA" dirty="0"/>
              <a:t>(6), 3416-3431.</a:t>
            </a:r>
          </a:p>
          <a:p>
            <a:pPr marL="0" indent="0">
              <a:buNone/>
            </a:pPr>
            <a:r>
              <a:rPr lang="en-CA" dirty="0"/>
              <a:t>[4] Hess, J. L., &amp; Smith, A. M. O. (1967). Calculation of potential flow about arbitrary bodies. Progress in Aerospace Sciences, 8, 1-138.</a:t>
            </a:r>
          </a:p>
          <a:p>
            <a:pPr marL="0" indent="0">
              <a:buNone/>
            </a:pPr>
            <a:r>
              <a:rPr lang="en-CA" dirty="0"/>
              <a:t>[5] Anderson, J. D. (2017). Fundamentals of Aerodynamics (6th ed.). McGraw-Hill Education.</a:t>
            </a:r>
          </a:p>
          <a:p>
            <a:pPr marL="0" indent="0">
              <a:buNone/>
            </a:pPr>
            <a:r>
              <a:rPr lang="en-CA" dirty="0"/>
              <a:t>[6] Thwaites, B. (1949). Approximate calculation of the laminar boundary layer. Aeronautical Quarterly, 1(3), 245-280.</a:t>
            </a:r>
          </a:p>
          <a:p>
            <a:pPr marL="0" indent="0">
              <a:buNone/>
            </a:pPr>
            <a:r>
              <a:rPr lang="en-CA" dirty="0"/>
              <a:t>[7] White, F. M. (2006). Viscous Fluid Flow (3rd ed.). McGraw-Hill.</a:t>
            </a:r>
          </a:p>
          <a:p>
            <a:pPr marL="0" indent="0">
              <a:buNone/>
            </a:pPr>
            <a:r>
              <a:rPr lang="en-CA" dirty="0"/>
              <a:t>[8] Zong H, </a:t>
            </a:r>
            <a:r>
              <a:rPr lang="en-CA" dirty="0" err="1"/>
              <a:t>Porté</a:t>
            </a:r>
            <a:r>
              <a:rPr lang="en-CA" dirty="0"/>
              <a:t>-Agel F. A momentum-conserving wake superposition method for wind farm power prediction. Journal of Fluid Mechanics. 2020;889:A8. doi:10.1017/jfm.2020.77</a:t>
            </a:r>
          </a:p>
          <a:p>
            <a:pPr marL="0" indent="0">
              <a:buNone/>
            </a:pPr>
            <a:r>
              <a:rPr lang="en-CA" dirty="0"/>
              <a:t>[9] Mittal, R., Erath, B. D., &amp; Plesniak, M. W. (2013). Fluid dynamics of human phonation and speech. Annual Review of Fluid Mechanics, 45, 437-467.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DE7B9D-3DFB-200F-5C64-6DC83CD35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Glottis Flow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901D88-5EDD-3EDC-F0A3-F04C5BE61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9302839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UofWaterloo_WhiteBkgrd">
  <a:themeElements>
    <a:clrScheme name="UWaterloo Engineering">
      <a:dk1>
        <a:srgbClr val="000000"/>
      </a:dk1>
      <a:lt1>
        <a:srgbClr val="FFFFFF"/>
      </a:lt1>
      <a:dk2>
        <a:srgbClr val="757575"/>
      </a:dk2>
      <a:lt2>
        <a:srgbClr val="D6D6D6"/>
      </a:lt2>
      <a:accent1>
        <a:srgbClr val="B45DCB"/>
      </a:accent1>
      <a:accent2>
        <a:srgbClr val="0C0C0C"/>
      </a:accent2>
      <a:accent3>
        <a:srgbClr val="865DA4"/>
      </a:accent3>
      <a:accent4>
        <a:srgbClr val="C2A8F0"/>
      </a:accent4>
      <a:accent5>
        <a:srgbClr val="5D0096"/>
      </a:accent5>
      <a:accent6>
        <a:srgbClr val="865DA4"/>
      </a:accent6>
      <a:hlink>
        <a:srgbClr val="5D0096"/>
      </a:hlink>
      <a:folHlink>
        <a:srgbClr val="595959"/>
      </a:folHlink>
    </a:clrScheme>
    <a:fontScheme name="Custom 3">
      <a:majorFont>
        <a:latin typeface="Barlow Condensed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8AE19A44-AAC1-D943-891E-EC6DE7954967}" vid="{98B83BC1-8754-C848-9B1A-39DC240902D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535D3CEC2F76A4CA1EC3507E2D03D36" ma:contentTypeVersion="16" ma:contentTypeDescription="Create a new document." ma:contentTypeScope="" ma:versionID="bb97bee70b1606bbb700640dacabe47f">
  <xsd:schema xmlns:xsd="http://www.w3.org/2001/XMLSchema" xmlns:xs="http://www.w3.org/2001/XMLSchema" xmlns:p="http://schemas.microsoft.com/office/2006/metadata/properties" xmlns:ns2="9bed8fe0-fd4c-4f92-9936-a2497f3396f6" xmlns:ns3="5d8f0207-1964-4a5e-9049-2927796093eb" targetNamespace="http://schemas.microsoft.com/office/2006/metadata/properties" ma:root="true" ma:fieldsID="5de26a37e5c2406e777d4ddd47cd8e40" ns2:_="" ns3:_="">
    <xsd:import namespace="9bed8fe0-fd4c-4f92-9936-a2497f3396f6"/>
    <xsd:import namespace="5d8f0207-1964-4a5e-9049-2927796093eb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ObjectDetectorVersions" minOccurs="0"/>
                <xsd:element ref="ns3:MediaServiceSearchProperties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ed8fe0-fd4c-4f92-9936-a2497f3396f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ba7b523d-fb2c-44c1-96a9-2a2e1bedae48}" ma:internalName="TaxCatchAll" ma:showField="CatchAllData" ma:web="9bed8fe0-fd4c-4f92-9936-a2497f3396f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8f0207-1964-4a5e-9049-2927796093e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cbf906fe-3e8e-4b22-a6fd-bde302b9218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4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d8f0207-1964-4a5e-9049-2927796093eb">
      <Terms xmlns="http://schemas.microsoft.com/office/infopath/2007/PartnerControls"/>
    </lcf76f155ced4ddcb4097134ff3c332f>
    <TaxCatchAll xmlns="9bed8fe0-fd4c-4f92-9936-a2497f3396f6" xsi:nil="true"/>
  </documentManagement>
</p:properties>
</file>

<file path=customXml/itemProps1.xml><?xml version="1.0" encoding="utf-8"?>
<ds:datastoreItem xmlns:ds="http://schemas.openxmlformats.org/officeDocument/2006/customXml" ds:itemID="{87F4C4DB-07ED-49AD-9A79-4094EE45E6E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796CB3A-B122-4517-855C-0F4A88E980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bed8fe0-fd4c-4f92-9936-a2497f3396f6"/>
    <ds:schemaRef ds:uri="5d8f0207-1964-4a5e-9049-2927796093e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46C92BA-2C15-4648-8094-8AE24EF764A2}">
  <ds:schemaRefs>
    <ds:schemaRef ds:uri="http://schemas.microsoft.com/office/2006/metadata/properties"/>
    <ds:schemaRef ds:uri="http://schemas.microsoft.com/office/infopath/2007/PartnerControls"/>
    <ds:schemaRef ds:uri="5d8f0207-1964-4a5e-9049-2927796093eb"/>
    <ds:schemaRef ds:uri="9bed8fe0-fd4c-4f92-9936-a2497f3396f6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UofWaterloo_WhiteBkgrd</Template>
  <TotalTime>470</TotalTime>
  <Words>1365</Words>
  <Application>Microsoft Macintosh PowerPoint</Application>
  <PresentationFormat>Widescreen</PresentationFormat>
  <Paragraphs>139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Barlow Condensed</vt:lpstr>
      <vt:lpstr>Calibri</vt:lpstr>
      <vt:lpstr>Cambria Math</vt:lpstr>
      <vt:lpstr>Georgia</vt:lpstr>
      <vt:lpstr>Times New Roman</vt:lpstr>
      <vt:lpstr>Verdana</vt:lpstr>
      <vt:lpstr>Wingdings</vt:lpstr>
      <vt:lpstr>UofWaterloo_WhiteBkgrd</vt:lpstr>
      <vt:lpstr>Glottis Flow</vt:lpstr>
      <vt:lpstr>Introduction and Motivation</vt:lpstr>
      <vt:lpstr>Experimental Apparatus</vt:lpstr>
      <vt:lpstr>Method of Images</vt:lpstr>
      <vt:lpstr>Method of Images - Approach</vt:lpstr>
      <vt:lpstr>Results</vt:lpstr>
      <vt:lpstr>Source Panel Method</vt:lpstr>
      <vt:lpstr>Results</vt:lpstr>
      <vt:lpstr>Boundary Layer Analysis</vt:lpstr>
      <vt:lpstr>Future Work &amp; Improvement of Prediction</vt:lpstr>
      <vt:lpstr>Limitations and Conclusions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JD Zhu</dc:creator>
  <cp:lastModifiedBy>JD Zhu</cp:lastModifiedBy>
  <cp:revision>6</cp:revision>
  <dcterms:created xsi:type="dcterms:W3CDTF">2025-11-29T18:57:44Z</dcterms:created>
  <dcterms:modified xsi:type="dcterms:W3CDTF">2025-12-01T00:39:10Z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0x0101009535D3CEC2F76A4CA1EC3507E2D03D36</vt:lpwstr>
  </property>
</Properties>
</file>