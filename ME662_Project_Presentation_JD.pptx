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59" r:id="rId6"/>
    <p:sldId id="265" r:id="rId7"/>
    <p:sldId id="260" r:id="rId8"/>
    <p:sldId id="261" r:id="rId9"/>
    <p:sldId id="262" r:id="rId10"/>
    <p:sldId id="263" r:id="rId11"/>
    <p:sldId id="267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3F00"/>
    <a:srgbClr val="FFFFFF"/>
    <a:srgbClr val="E4B429"/>
    <a:srgbClr val="FFD54F"/>
    <a:srgbClr val="FFEA3D"/>
    <a:srgbClr val="FFFFAA"/>
    <a:srgbClr val="E0249A"/>
    <a:srgbClr val="0073CF"/>
    <a:srgbClr val="57068C"/>
    <a:srgbClr val="FFDB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667" autoAdjust="0"/>
    <p:restoredTop sz="94660"/>
  </p:normalViewPr>
  <p:slideViewPr>
    <p:cSldViewPr snapToGrid="0">
      <p:cViewPr>
        <p:scale>
          <a:sx n="129" d="100"/>
          <a:sy n="129" d="100"/>
        </p:scale>
        <p:origin x="144" y="1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30" d="100"/>
        <a:sy n="3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928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0E4E57-1CF6-4440-8310-3CBE926400C3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33DC02-E926-F143-BEA7-834664C01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124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E97C-1779-4CEE-80D0-5BBB1AC4023D}" type="datetimeFigureOut">
              <a:rPr lang="en-US" smtClean="0"/>
              <a:t>11/29/25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CEF7D1-689C-4BC1-B59B-4A4CE078EC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143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930DF486-3438-A340-9F75-BB86BE289DE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605660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27E6BEA-9D28-86FA-D573-63E937A96B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04DF45C-A64A-062F-9CED-3E842F488317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DB245BA-2894-CA76-0F75-D34749BB980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20A4491-7F26-FD1F-E922-D16588A2AF7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4467DA2-12C4-867B-1A08-D4BC12EE3119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B127630-A949-31A6-994A-2119B96BA2FB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15592275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/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E5E2D7B7-C046-952F-FFBF-CDF3C05A39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50" y="5600284"/>
            <a:ext cx="4567498" cy="1255431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F976B466-9D8C-A8C3-EB96-3631DC2050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AAEAB53-3AF3-394F-5A0D-265C448ECA6E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D4BD0F5-AD43-7157-6853-3CD55084FE7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DF12FAF-5A82-CC83-3020-79FECB6A9B1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DE8C28B-8279-2C62-9323-C451CFBB294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9CBBFB6-9B79-D3A2-687E-255A236C9639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31835470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University of Waterloo Faculty of Engineering logo">
            <a:extLst>
              <a:ext uri="{FF2B5EF4-FFF2-40B4-BE49-F238E27FC236}">
                <a16:creationId xmlns:a16="http://schemas.microsoft.com/office/drawing/2014/main" id="{C7842B6A-813C-FA45-B88D-CE413A77FF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9254931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769F524-D51C-40DB-F389-1673BFAA4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6859F7A-5A85-CDB2-227D-E72CEFB48AF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C991028-4405-8861-5C0F-DDCED6AE10C4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10B4E87-130B-529C-B325-CF2152D17DBD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A3B4BA68-9EA4-7A22-3621-B9ED64303A72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15C994C-FB53-4A65-2E87-41A181943148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2895226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Black with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4124" y="397164"/>
            <a:ext cx="6097876" cy="6460836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2740" y="1028940"/>
            <a:ext cx="5486243" cy="1474115"/>
          </a:xfrm>
        </p:spPr>
        <p:txBody>
          <a:bodyPr lIns="0" anchor="b">
            <a:noAutofit/>
          </a:bodyPr>
          <a:lstStyle>
            <a:lvl1pPr algn="l">
              <a:defRPr sz="5400" b="1" cap="all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2740" y="4266821"/>
            <a:ext cx="5486243" cy="666549"/>
          </a:xfrm>
        </p:spPr>
        <p:txBody>
          <a:bodyPr lIns="0" anchor="t">
            <a:normAutofit/>
          </a:bodyPr>
          <a:lstStyle>
            <a:lvl1pPr marL="0" indent="0" algn="l">
              <a:buNone/>
              <a:defRPr sz="1500" b="0">
                <a:solidFill>
                  <a:schemeClr val="bg1">
                    <a:lumMod val="8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2740" y="2642329"/>
            <a:ext cx="1182916" cy="377962"/>
          </a:xfrm>
          <a:solidFill>
            <a:schemeClr val="accent3"/>
          </a:solidFill>
        </p:spPr>
        <p:txBody>
          <a:bodyPr/>
          <a:lstStyle>
            <a:lvl1pPr>
              <a:defRPr sz="11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318C6E2-4AA5-436E-9815-715E9B2235FA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6623674" y="6377231"/>
            <a:ext cx="4293708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148416" y="6377231"/>
            <a:ext cx="553900" cy="250337"/>
          </a:xfrm>
        </p:spPr>
        <p:txBody>
          <a:bodyPr/>
          <a:lstStyle>
            <a:lvl1pPr algn="ctr"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Picture 12" descr="University of Waterloo Faculty of Engineering logo">
            <a:extLst>
              <a:ext uri="{FF2B5EF4-FFF2-40B4-BE49-F238E27FC236}">
                <a16:creationId xmlns:a16="http://schemas.microsoft.com/office/drawing/2014/main" id="{61486EB2-DBB7-6812-FFCB-C07E1DEE6B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849" y="5600284"/>
            <a:ext cx="4567499" cy="1255431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4CF5075-07D9-F9E3-0595-1A0D8C92F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DD24995-6F05-8ECB-D3BE-0691DF97B91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836C1D7-6B11-F5C9-0533-3719C5ECB00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69C97C2-B343-C17E-D528-65C442051DD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8ED34F6-8D98-D192-5DBF-F8BDC1DB62E6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E4B2663-04FA-0615-C4BC-D798630AB8B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106763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D4B0C9-B47E-4B33-A656-C78D1805DA95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6323211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_M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7407696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1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8908224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 baseline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2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5" hasCustomPrompt="1"/>
          </p:nvPr>
        </p:nvSpPr>
        <p:spPr>
          <a:xfrm>
            <a:off x="10408752" y="685060"/>
            <a:ext cx="1420859" cy="286052"/>
          </a:xfrm>
        </p:spPr>
        <p:txBody>
          <a:bodyPr anchor="ctr">
            <a:noAutofit/>
          </a:bodyPr>
          <a:lstStyle>
            <a:lvl1pPr marL="0" indent="0" algn="ctr">
              <a:buNone/>
              <a:defRPr sz="1100" b="0">
                <a:solidFill>
                  <a:schemeClr val="tx1">
                    <a:lumMod val="50000"/>
                    <a:lumOff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en-US" dirty="0"/>
              <a:t>MENU ITEM 3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48C228CE-C572-4AF5-9728-AA6E475873DD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9883" y="434108"/>
            <a:ext cx="7046081" cy="895927"/>
          </a:xfrm>
        </p:spPr>
        <p:txBody>
          <a:bodyPr/>
          <a:lstStyle>
            <a:lvl1pPr>
              <a:defRPr b="1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036257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2" y="1709738"/>
            <a:ext cx="9399507" cy="2852737"/>
          </a:xfrm>
        </p:spPr>
        <p:txBody>
          <a:bodyPr anchor="b">
            <a:normAutofit/>
          </a:bodyPr>
          <a:lstStyle>
            <a:lvl1pPr algn="l">
              <a:defRPr sz="40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4589463"/>
            <a:ext cx="9399507" cy="1500187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D43AC-4B94-471D-A170-0D88FCD1FB54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021156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60521" y="3228200"/>
            <a:ext cx="8770620" cy="1212056"/>
          </a:xfrm>
        </p:spPr>
        <p:txBody>
          <a:bodyPr anchor="b">
            <a:noAutofit/>
          </a:bodyPr>
          <a:lstStyle>
            <a:lvl1pPr algn="l">
              <a:defRPr sz="4000" b="1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SECTION TITLE SLIDE OPTION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960521" y="4448086"/>
            <a:ext cx="8770620" cy="666549"/>
          </a:xfrm>
        </p:spPr>
        <p:txBody>
          <a:bodyPr anchor="t">
            <a:normAutofit/>
          </a:bodyPr>
          <a:lstStyle>
            <a:lvl1pPr marL="0" indent="0" algn="l">
              <a:buNone/>
              <a:defRPr sz="2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2EFF9E2-52BD-4C8D-9C57-79F661DB94A1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78BDD71-5673-C3E4-61B8-8F8F041308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EBF8245-E943-0D71-7CC0-09B6B4E3260B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2D8089-B052-A801-A878-B773A49F861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53A2417-24CA-2534-65B9-CAFF9B77F07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ABD4852-C253-61D4-26E8-4222BFD9B55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6DAFAF2-35DA-8050-8069-401CD4268EFE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2748302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9882" y="1413164"/>
            <a:ext cx="5586855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992" y="1413164"/>
            <a:ext cx="5658620" cy="4590472"/>
          </a:xfrm>
        </p:spPr>
        <p:txBody>
          <a:bodyPr/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1881F3-AB4F-4026-8B03-DBF7475676B1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851648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1" y="1396192"/>
            <a:ext cx="5542713" cy="670270"/>
          </a:xfrm>
        </p:spPr>
        <p:txBody>
          <a:bodyPr anchor="b">
            <a:noAutofit/>
          </a:bodyPr>
          <a:lstStyle>
            <a:lvl1pPr marL="0" indent="0">
              <a:buNone/>
              <a:defRPr sz="2800" b="1" baseline="0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881" y="2184400"/>
            <a:ext cx="5542713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36154" y="1396192"/>
            <a:ext cx="5593458" cy="670270"/>
          </a:xfrm>
        </p:spPr>
        <p:txBody>
          <a:bodyPr anchor="b">
            <a:normAutofit/>
          </a:bodyPr>
          <a:lstStyle>
            <a:lvl1pPr marL="0" indent="0">
              <a:buNone/>
              <a:defRPr sz="2800" b="1"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36154" y="2184400"/>
            <a:ext cx="5593458" cy="3846945"/>
          </a:xfrm>
        </p:spPr>
        <p:txBody>
          <a:bodyPr>
            <a:normAutofit/>
          </a:bodyPr>
          <a:lstStyle>
            <a:lvl1pPr marL="288925" indent="-288925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2000"/>
            </a:lvl1pPr>
            <a:lvl2pPr marL="6858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800"/>
            </a:lvl2pPr>
            <a:lvl3pPr marL="11430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600"/>
            </a:lvl3pPr>
            <a:lvl4pPr marL="16002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4pPr>
            <a:lvl5pPr marL="2057400" indent="-228600">
              <a:spcBef>
                <a:spcPts val="800"/>
              </a:spcBef>
              <a:spcAft>
                <a:spcPts val="800"/>
              </a:spcAft>
              <a:buFont typeface="Wingdings" charset="2"/>
              <a:buChar char="§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 hasCustomPrompt="1"/>
          </p:nvPr>
        </p:nvSpPr>
        <p:spPr>
          <a:xfrm>
            <a:off x="259883" y="434108"/>
            <a:ext cx="11569729" cy="895927"/>
          </a:xfrm>
        </p:spPr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F432B-3FBE-4889-963D-BF97BFBB7D3F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598644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0CCC04-1E76-41EE-A8AC-75AD85313D09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487075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74A9E-84AC-4661-9381-CC35B09E47F7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165608"/>
      </p:ext>
    </p:extLst>
  </p:cSld>
  <p:clrMapOvr>
    <a:masterClrMapping/>
  </p:clrMapOvr>
  <p:transition spd="slow">
    <p:push dir="u"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_NoBkg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1E55829F-8847-4C2A-8DD0-690EAD78E53F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8F0E357-D0D7-C8D3-9BB9-CBCD595E27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F904F2D-EB5B-78C1-C9CD-AD22B98AAF2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33A6C96-3A16-4F62-35CE-95FC1296115C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CB83E9C-7246-D12C-1E4F-7F8C8CACBCB5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AA84279-81BF-BD14-75E3-45D84ED22AE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6C3DEA0-E90A-8F4E-6FCC-22A0591AE8A4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87678416"/>
      </p:ext>
    </p:extLst>
  </p:cSld>
  <p:clrMapOvr>
    <a:masterClrMapping/>
  </p:clrMapOvr>
  <p:transition spd="slow">
    <p:push dir="u"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930071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2" name="Straight 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393007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660400" y="2420360"/>
            <a:ext cx="10871200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8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393007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B5677E-A76C-D8C2-715E-D2CC90E708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397014F-8428-CB57-EA94-4926AC5048D6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08710D-B7A2-5B78-4CA2-26A7E60D2EA8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CBC1D33-6438-5920-7D04-F461F1F2C24C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584E8BE-411E-3D79-1AEB-CFBE9515CD5B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A2D3D3E-C28F-C346-1738-B63D4769D73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4198111"/>
      </p:ext>
    </p:extLst>
  </p:cSld>
  <p:clrMapOvr>
    <a:masterClrMapping/>
  </p:clrMapOvr>
  <p:transition spd="slow">
    <p:push dir="u"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xt or Quote with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5"/>
          </p:nvPr>
        </p:nvSpPr>
        <p:spPr>
          <a:xfrm>
            <a:off x="6350285" y="807867"/>
            <a:ext cx="5440648" cy="5445153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54362" y="1237675"/>
            <a:ext cx="4331855" cy="910202"/>
          </a:xfrm>
        </p:spPr>
        <p:txBody>
          <a:bodyPr anchor="b">
            <a:normAutofit/>
          </a:bodyPr>
          <a:lstStyle>
            <a:lvl1pPr algn="ctr">
              <a:defRPr sz="2800" b="1" cap="all" baseline="0"/>
            </a:lvl1pPr>
          </a:lstStyle>
          <a:p>
            <a:r>
              <a:rPr lang="en-US" dirty="0"/>
              <a:t>CONTEXT or THEME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59882" y="6335309"/>
            <a:ext cx="3887245" cy="250337"/>
          </a:xfrm>
        </p:spPr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479637" y="6335309"/>
            <a:ext cx="1016000" cy="250337"/>
          </a:xfrm>
        </p:spPr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3"/>
          </p:nvPr>
        </p:nvSpPr>
        <p:spPr>
          <a:xfrm>
            <a:off x="544943" y="2409026"/>
            <a:ext cx="4950694" cy="211455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2200"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854362" y="4784725"/>
            <a:ext cx="4331855" cy="276225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indent="0" algn="ctr">
              <a:buNone/>
              <a:defRPr lang="en-US" sz="1200" b="1" cap="all" baseline="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marL="0" lvl="0" algn="ctr"/>
            <a:r>
              <a:rPr lang="en-US"/>
              <a:t>Click to edit Master text styles</a:t>
            </a:r>
          </a:p>
        </p:txBody>
      </p:sp>
      <p:cxnSp>
        <p:nvCxnSpPr>
          <p:cNvPr id="10" name="Straight 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2244437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854363" y="4668983"/>
            <a:ext cx="4331855" cy="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288D66E9-C096-F7E5-4608-69F3BFAA0E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D20D476-3C3C-17FB-6B9D-62877266FDDD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A3B59E-EB98-37C9-ABAF-5F298CBCB50F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09ADF04-D661-134D-CEBE-7284FCA07F2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B66F9EB-2209-AA77-54BB-874DD242922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AE99F41D-6A52-4E41-CCC6-4F322B85979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3317354"/>
      </p:ext>
    </p:extLst>
  </p:cSld>
  <p:clrMapOvr>
    <a:masterClrMapping/>
  </p:clrMapOvr>
  <p:transition spd="slow">
    <p:push dir="u"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/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5FDFC970-B950-4395-A833-47227D4A68CA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BE3B45F-F7EF-7AC1-2F71-A8F707B474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E7FF446-A027-DF9C-2EF7-BB8A71A92C2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4DBD243-4CC4-FC6A-A3EF-134F0475518A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51E8B32-A35D-0923-E7EE-4693F5A56614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04998BE-5F59-2840-05C4-7AFCED90F6C7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71EFAE3-6B14-DE22-01D0-2E8AFF7CD36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67728093"/>
      </p:ext>
    </p:extLst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2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5364A90-0797-F96E-F770-FF1A12CE0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4350EA6-F3C3-B71A-2AE8-59D702686268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DFD5CBB-2458-6136-9C90-A6C4B927AC9B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B84D87D-DBE9-B3EF-FFB3-C2AFE2A77403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F1F04D2-CB9A-2272-4643-01B4FAAC4398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36161E2-6AF6-CD93-0C7B-DE95E53B4B4C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66828729"/>
      </p:ext>
    </p:extLst>
  </p:cSld>
  <p:clrMapOvr>
    <a:masterClrMapping/>
  </p:clrMapOvr>
  <p:transition spd="slow">
    <p:push dir="u"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1550988" y="3461559"/>
            <a:ext cx="9070975" cy="598488"/>
          </a:xfrm>
        </p:spPr>
        <p:txBody>
          <a:bodyPr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</a:lstStyle>
          <a:p>
            <a:pPr lvl="0"/>
            <a:r>
              <a:rPr lang="en-US" dirty="0" err="1"/>
              <a:t>Subheader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7591" y="2382981"/>
            <a:ext cx="11569729" cy="1046019"/>
          </a:xfrm>
        </p:spPr>
        <p:txBody>
          <a:bodyPr anchor="b">
            <a:normAutofit/>
          </a:bodyPr>
          <a:lstStyle>
            <a:lvl1pPr algn="ctr">
              <a:defRPr sz="6000" b="1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DIVIDER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FDFC970-B950-4395-A833-47227D4A68CA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AAC575D-0FA9-A38D-9797-156B5AA8A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72D70FB-ADA6-5E6E-29B1-A1623DE361B1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A40349B-8324-5C56-8910-78C4E6366CCD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D12A301-E6DF-7760-3D01-B0933E87104E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5F068C1-6FE1-DFD6-F0F5-A3F1F8A8E5CD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93460B5-979B-9830-988B-CA56409C364F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5022777"/>
      </p:ext>
    </p:extLst>
  </p:cSld>
  <p:clrMapOvr>
    <a:masterClrMapping/>
  </p:clrMapOvr>
  <p:transition spd="slow">
    <p:push dir="u"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57225" y="4581236"/>
            <a:ext cx="10877550" cy="1597891"/>
          </a:xfrm>
          <a:noFill/>
        </p:spPr>
        <p:txBody>
          <a:bodyPr wrap="square" rtlCol="0" anchor="ctr" anchorCtr="1">
            <a:noAutofit/>
          </a:bodyPr>
          <a:lstStyle>
            <a:lvl1pPr algn="ctr">
              <a:defRPr lang="en-US" sz="1800" b="0" i="0" cap="none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/>
          <a:p>
            <a:fld id="{75D660D7-90CE-4513-A3CE-C070B9421917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 descr="University of Waterloo Faculty of Engineering logo">
            <a:extLst>
              <a:ext uri="{FF2B5EF4-FFF2-40B4-BE49-F238E27FC236}">
                <a16:creationId xmlns:a16="http://schemas.microsoft.com/office/drawing/2014/main" id="{08F22C7D-C1E2-3043-B369-F9AA670BFC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7" y="985586"/>
            <a:ext cx="6096143" cy="40752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7CA9BB1-9C2E-4569-BE1D-5D7F529E6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A410A60-FA9B-1ECF-958F-BC27BB5C2E95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CC5613F-FE3A-A7CF-B132-7779C8C132EE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EE9D1A7-9583-C584-47EB-0627750BD7CF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D6DCD87-2E74-CDA8-1BA0-3DE81AD3380C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FD214E4-DEB6-B4CF-DF1D-A1A345D13201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69677358"/>
      </p:ext>
    </p:extLst>
  </p:cSld>
  <p:clrMapOvr>
    <a:masterClrMapping/>
  </p:clrMapOvr>
  <p:transition spd="slow">
    <p:push dir="u"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33425" y="4682836"/>
            <a:ext cx="10725150" cy="1559782"/>
          </a:xfrm>
          <a:noFill/>
        </p:spPr>
        <p:txBody>
          <a:bodyPr wrap="square" rtlCol="0" anchor="ctr" anchorCtr="1">
            <a:noAutofit/>
          </a:bodyPr>
          <a:lstStyle>
            <a:lvl1pPr marL="0" algn="ctr">
              <a:lnSpc>
                <a:spcPct val="75000"/>
              </a:lnSpc>
              <a:defRPr lang="en-US" sz="1800" b="0" i="0">
                <a:solidFill>
                  <a:schemeClr val="bg1">
                    <a:alpha val="81000"/>
                  </a:schemeClr>
                </a:solidFill>
                <a:latin typeface="Verdana" charset="0"/>
                <a:ea typeface="Verdana" charset="0"/>
                <a:cs typeface="Verdana" charset="0"/>
              </a:defRPr>
            </a:lvl1pPr>
          </a:lstStyle>
          <a:p>
            <a:pPr marL="0" lvl="0" algn="ctr">
              <a:lnSpc>
                <a:spcPct val="75000"/>
              </a:lnSpc>
            </a:pPr>
            <a:r>
              <a:rPr lang="en-US" dirty="0"/>
              <a:t>Click to edit master closing slide</a:t>
            </a:r>
          </a:p>
        </p:txBody>
      </p:sp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985586"/>
            <a:ext cx="6096143" cy="4075200"/>
          </a:xfrm>
          <a:prstGeom prst="rect">
            <a:avLst/>
          </a:prstGeom>
          <a:effectLst/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8C08A7A-273E-2AF6-423F-B3A31B4E8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6364F3F-3B82-84E7-CBE7-02C3AEE04520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0B8ADAC-7828-B63A-D5DA-453F6E05F127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D015563-E92F-C342-9A7D-30F6A4E8A031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A7D1E3D-066D-CE3E-D814-48C37B5F91F3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511196A-9E52-FC64-5031-EB102393BE10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2082862"/>
      </p:ext>
    </p:extLst>
  </p:cSld>
  <p:clrMapOvr>
    <a:masterClrMapping/>
  </p:clrMapOvr>
  <p:transition spd="slow">
    <p:push dir="u"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losing Slide_Y+W_AL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/>
          <p:cNvSpPr>
            <a:spLocks noGrp="1"/>
          </p:cNvSpPr>
          <p:nvPr>
            <p:ph type="dt" sz="half" idx="10"/>
          </p:nvPr>
        </p:nvSpPr>
        <p:spPr>
          <a:xfrm>
            <a:off x="10751004" y="6335309"/>
            <a:ext cx="1181114" cy="25033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A368D4B-3D0A-49AB-8EA2-2DC8CB4594DB}" type="datetime1">
              <a:rPr lang="en-US" smtClean="0"/>
              <a:pPr/>
              <a:t>11/29/25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University of Waterloo Faculty of Engineering logo">
            <a:extLst>
              <a:ext uri="{FF2B5EF4-FFF2-40B4-BE49-F238E27FC236}">
                <a16:creationId xmlns:a16="http://schemas.microsoft.com/office/drawing/2014/main" id="{B312827E-EAC5-3946-AC23-03E04566DDA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7928" y="799131"/>
            <a:ext cx="6096143" cy="4075200"/>
          </a:xfrm>
          <a:prstGeom prst="rect">
            <a:avLst/>
          </a:prstGeom>
          <a:effectLst/>
        </p:spPr>
      </p:pic>
      <p:pic>
        <p:nvPicPr>
          <p:cNvPr id="16" name="Picture 15" descr="YOU+WATERLOO">
            <a:extLst>
              <a:ext uri="{FF2B5EF4-FFF2-40B4-BE49-F238E27FC236}">
                <a16:creationId xmlns:a16="http://schemas.microsoft.com/office/drawing/2014/main" id="{447C4EF9-A5C2-5947-9C94-BD3C8A011B2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7315" y="4854114"/>
            <a:ext cx="1817370" cy="5143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B13A5EE-7ACD-F44B-B9D4-9E14E16B8E1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237482" y="5539328"/>
            <a:ext cx="3717036" cy="243459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65551F98-0A77-9BFF-9522-8E7ECCBB7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1BD5278-A732-132E-D1BB-5FC1F8CDD5E2}"/>
                </a:ext>
              </a:extLst>
            </p:cNvPr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BF4F076-A524-9C72-246E-4632FB7B6835}"/>
                </a:ext>
              </a:extLst>
            </p:cNvPr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966D408-FB48-5753-CC50-CD16F619FAFA}"/>
                </a:ext>
              </a:extLst>
            </p:cNvPr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B35BE29-48EB-34E3-E99E-5D6ECC453C11}"/>
                </a:ext>
              </a:extLst>
            </p:cNvPr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53627FE-0E92-6205-F722-7C260F139C8A}"/>
                </a:ext>
              </a:extLst>
            </p:cNvPr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21874654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University of Waterloo Faculty of Engineering logo">
            <a:extLst>
              <a:ext uri="{FF2B5EF4-FFF2-40B4-BE49-F238E27FC236}">
                <a16:creationId xmlns:a16="http://schemas.microsoft.com/office/drawing/2014/main" id="{75D18FC7-EB3D-A142-853C-7A6BC4BDE92C}"/>
              </a:ext>
            </a:extLst>
          </p:cNvPr>
          <p:cNvPicPr>
            <a:picLocks noChangeAspect="1"/>
          </p:cNvPicPr>
          <p:nvPr userDrawn="1"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19902" y="5992113"/>
            <a:ext cx="3262499" cy="896736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883" y="434108"/>
            <a:ext cx="11569729" cy="8959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9882" y="1413163"/>
            <a:ext cx="11569729" cy="45951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38014" y="6335309"/>
            <a:ext cx="1181114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5FDFC970-B950-4395-A833-47227D4A68CA}" type="datetime1">
              <a:rPr lang="en-US" smtClean="0"/>
              <a:t>11/29/25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9882" y="6335309"/>
            <a:ext cx="5226517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588000" y="6335309"/>
            <a:ext cx="1016000" cy="2503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en-US" dirty="0"/>
              <a:t>PAGE  </a:t>
            </a:r>
            <a:fld id="{93005692-73BE-493E-93AB-ECD6027A7652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397164"/>
            <a:chOff x="0" y="0"/>
            <a:chExt cx="12192000" cy="397164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" y="198582"/>
              <a:ext cx="3082197" cy="1985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3050818" y="198582"/>
              <a:ext cx="3047061" cy="19858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/>
            <p:cNvSpPr/>
            <p:nvPr userDrawn="1"/>
          </p:nvSpPr>
          <p:spPr>
            <a:xfrm>
              <a:off x="6097879" y="198582"/>
              <a:ext cx="3047061" cy="198582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/>
            <p:cNvSpPr/>
            <p:nvPr userDrawn="1"/>
          </p:nvSpPr>
          <p:spPr>
            <a:xfrm>
              <a:off x="9144939" y="198582"/>
              <a:ext cx="3047061" cy="19858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0" y="0"/>
              <a:ext cx="12191999" cy="198582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73700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714" r:id="rId2"/>
    <p:sldLayoutId id="2147483715" r:id="rId3"/>
    <p:sldLayoutId id="2147483716" r:id="rId4"/>
    <p:sldLayoutId id="2147483670" r:id="rId5"/>
    <p:sldLayoutId id="2147483693" r:id="rId6"/>
    <p:sldLayoutId id="2147483671" r:id="rId7"/>
    <p:sldLayoutId id="2147483690" r:id="rId8"/>
    <p:sldLayoutId id="2147483672" r:id="rId9"/>
    <p:sldLayoutId id="2147483673" r:id="rId10"/>
    <p:sldLayoutId id="2147483674" r:id="rId11"/>
    <p:sldLayoutId id="2147483675" r:id="rId12"/>
    <p:sldLayoutId id="2147483710" r:id="rId13"/>
    <p:sldLayoutId id="2147483717" r:id="rId14"/>
    <p:sldLayoutId id="2147483718" r:id="rId15"/>
    <p:sldLayoutId id="2147483719" r:id="rId16"/>
    <p:sldLayoutId id="2147483720" r:id="rId17"/>
    <p:sldLayoutId id="2147483721" r:id="rId18"/>
    <p:sldLayoutId id="2147483712" r:id="rId19"/>
    <p:sldLayoutId id="2147483713" r:id="rId20"/>
    <p:sldLayoutId id="2147483723" r:id="rId21"/>
  </p:sldLayoutIdLst>
  <p:transition spd="slow">
    <p:push dir="u"/>
  </p:transition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kern="1200" spc="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925" indent="-288925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800"/>
        </a:spcBef>
        <a:spcAft>
          <a:spcPts val="800"/>
        </a:spcAft>
        <a:buClr>
          <a:schemeClr val="tx1"/>
        </a:buClr>
        <a:buSzPct val="85000"/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github.com/jiangdizhu/ME662-Project.git" TargetMode="Externa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JD</a:t>
            </a:r>
            <a:br>
              <a:rPr lang="en-US" dirty="0"/>
            </a:br>
            <a:r>
              <a:rPr lang="en-US" dirty="0"/>
              <a:t>ME 662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12/02/2025</a:t>
            </a:r>
          </a:p>
        </p:txBody>
      </p:sp>
    </p:spTree>
    <p:extLst>
      <p:ext uri="{BB962C8B-B14F-4D97-AF65-F5344CB8AC3E}">
        <p14:creationId xmlns:p14="http://schemas.microsoft.com/office/powerpoint/2010/main" val="114863653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17FFA-DDC1-A0CB-C115-2F0864C4C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4472A-105D-E7F9-7D26-1FD1C4819A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The Physics of Voice: </a:t>
            </a:r>
          </a:p>
          <a:p>
            <a:pPr lvl="1"/>
            <a:r>
              <a:rPr lang="en-US" dirty="0"/>
              <a:t>Voice is produced by airflow through the larynx (glottis). 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intraglottal</a:t>
            </a:r>
            <a:r>
              <a:rPr lang="en-US" dirty="0"/>
              <a:t> pressure profile drives the vocal fold oscillation. </a:t>
            </a:r>
          </a:p>
          <a:p>
            <a:r>
              <a:rPr lang="en-US" b="1" dirty="0"/>
              <a:t>The Problem: </a:t>
            </a:r>
          </a:p>
          <a:p>
            <a:pPr lvl="1"/>
            <a:r>
              <a:rPr lang="en-US" dirty="0"/>
              <a:t>Modeling airflow in the human larynx (glottis) is complex and computationally expensive (usually requires full Navier-Stokes simulations). </a:t>
            </a:r>
          </a:p>
          <a:p>
            <a:pPr lvl="1"/>
            <a:r>
              <a:rPr lang="en-US" dirty="0"/>
              <a:t>There is a need for faster, simplified models to estimate the aerodynamic driving forces of speech. </a:t>
            </a:r>
          </a:p>
          <a:p>
            <a:r>
              <a:rPr lang="en-US" b="1" dirty="0"/>
              <a:t>Project Objective: </a:t>
            </a:r>
          </a:p>
          <a:p>
            <a:pPr lvl="1"/>
            <a:r>
              <a:rPr lang="en-US" dirty="0"/>
              <a:t>Develop a simplified model based on Potential Flow Theory to predict pressures. </a:t>
            </a:r>
          </a:p>
          <a:p>
            <a:pPr lvl="1"/>
            <a:r>
              <a:rPr lang="en-US" dirty="0"/>
              <a:t>Validate the model against benchmark experimental data (Scherer et al., 2001).</a:t>
            </a:r>
          </a:p>
          <a:p>
            <a:r>
              <a:rPr lang="en-CA" dirty="0"/>
              <a:t>The python </a:t>
            </a:r>
            <a:r>
              <a:rPr lang="en-CA" dirty="0" err="1"/>
              <a:t>implmentation</a:t>
            </a:r>
            <a:r>
              <a:rPr lang="en-CA" dirty="0"/>
              <a:t> can be found at </a:t>
            </a:r>
            <a:r>
              <a:rPr lang="en-CA" u="sng" dirty="0">
                <a:hlinkClick r:id="rId2"/>
              </a:rPr>
              <a:t>https://github.com/jiangdizhu/ME662-Project.git</a:t>
            </a:r>
            <a:endParaRPr lang="en-CA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ACB1FC-FAA4-A1C8-06B0-30BD407CF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14A56-2B5F-5400-66F1-D24999A5D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AB7AA2E3-C27F-1489-7B54-504A220FB444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3483" y="1412875"/>
            <a:ext cx="5653697" cy="4591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75213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2EEDA67-1D2F-9406-43E5-FF874011E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59881" y="1176273"/>
            <a:ext cx="5542713" cy="670270"/>
          </a:xfrm>
        </p:spPr>
        <p:txBody>
          <a:bodyPr/>
          <a:lstStyle/>
          <a:p>
            <a:r>
              <a:rPr lang="en-US" dirty="0"/>
              <a:t>Setup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D58A3-6B52-545A-4A27-FEBF9340E7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36154" y="1176273"/>
            <a:ext cx="5593458" cy="670270"/>
          </a:xfrm>
        </p:spPr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11" name="Content Placeholder 10" descr="A diagram of a pressure drop&#10;&#10;AI-generated content may be incorrect.">
            <a:extLst>
              <a:ext uri="{FF2B5EF4-FFF2-40B4-BE49-F238E27FC236}">
                <a16:creationId xmlns:a16="http://schemas.microsoft.com/office/drawing/2014/main" id="{DCC48CB1-7192-88BC-20F0-A7F303D0BF79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22198" y="1964481"/>
            <a:ext cx="3021353" cy="3846513"/>
          </a:xfr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F28F625A-07E9-303B-678F-3AD6A33AC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Apparatus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CCDFABB-B614-BA06-8BC1-683095197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E393407-799D-91A8-1264-D1D7B2D60B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9" name="Content Placeholder 6" descr="A drawing of a rectangular object&#10;&#10;AI-generated content may be incorrect.">
            <a:extLst>
              <a:ext uri="{FF2B5EF4-FFF2-40B4-BE49-F238E27FC236}">
                <a16:creationId xmlns:a16="http://schemas.microsoft.com/office/drawing/2014/main" id="{8FC0D8DB-983D-2399-1589-14CFE191364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5237" y="1964481"/>
            <a:ext cx="3092189" cy="3846513"/>
          </a:xfr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9AE2031-DCF6-9849-99F7-F7918B388410}"/>
              </a:ext>
            </a:extLst>
          </p:cNvPr>
          <p:cNvSpPr txBox="1"/>
          <p:nvPr/>
        </p:nvSpPr>
        <p:spPr>
          <a:xfrm>
            <a:off x="259881" y="5786750"/>
            <a:ext cx="1156972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Figures adapted from Scherer, R. C., Shinwari, D., De Witt, K. J., Zhang, C.,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Kucinschi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B. R., &amp;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Afjeh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, A. A. (2001). </a:t>
            </a:r>
            <a:r>
              <a:rPr lang="en-CA" sz="1000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Intraglottal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pressure profiles for a symmetric and oblique glottis with a divergence angle of 10 degrees. </a:t>
            </a:r>
            <a:r>
              <a:rPr lang="en-CA" sz="10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J. </a:t>
            </a:r>
            <a:r>
              <a:rPr lang="en-CA" sz="1000" i="1" dirty="0" err="1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Acoust</a:t>
            </a:r>
            <a:r>
              <a:rPr lang="en-CA" sz="1000" i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 Soc. Am., 109</a:t>
            </a:r>
            <a:r>
              <a:rPr lang="en-CA" sz="10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(4), 1616–1630.</a:t>
            </a:r>
            <a:r>
              <a:rPr lang="en-CA" sz="1000" dirty="0">
                <a:effectLst/>
              </a:rPr>
              <a:t> 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88776984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7AB49-1672-C78D-8EAF-9365B84A2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Images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FEF0E2-3CAE-AA39-6976-DD141018D91D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Concept: </a:t>
                </a:r>
              </a:p>
              <a:p>
                <a:pPr lvl="1"/>
                <a:r>
                  <a:rPr lang="en-US" dirty="0"/>
                  <a:t>Start with the simplest possible mathematical representation: Method of Images. </a:t>
                </a:r>
              </a:p>
              <a:p>
                <a:pPr lvl="1"/>
                <a:r>
                  <a:rPr lang="en-US" dirty="0"/>
                  <a:t>Approximated the glottal constriction as two opposing semicircles. </a:t>
                </a:r>
              </a:p>
              <a:p>
                <a:r>
                  <a:rPr lang="en-US" b="1" dirty="0"/>
                  <a:t>Formulation: </a:t>
                </a:r>
              </a:p>
              <a:p>
                <a:pPr lvl="1"/>
                <a:r>
                  <a:rPr lang="en-US" dirty="0"/>
                  <a:t>Superposition of Uniform Flow + Infinite Series of Doublets. </a:t>
                </a:r>
              </a:p>
              <a:p>
                <a:pPr lvl="1"/>
                <a:r>
                  <a:rPr lang="en-US" dirty="0"/>
                  <a:t>Derivation using complex potential </a:t>
                </a:r>
                <a14:m>
                  <m:oMath xmlns:m="http://schemas.openxmlformats.org/officeDocument/2006/math">
                    <m:r>
                      <a:rPr lang="en-CA" i="1"/>
                      <m:t>𝑊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to satisfy boundary conditions.</a:t>
                </a:r>
              </a:p>
              <a:p>
                <a:r>
                  <a:rPr lang="en-US" b="1" dirty="0"/>
                  <a:t>Why this approach? </a:t>
                </a:r>
              </a:p>
              <a:p>
                <a:pPr lvl="1"/>
                <a:r>
                  <a:rPr lang="en-US" dirty="0"/>
                  <a:t>Provides an exact, closed-form solution for pressure and velocity. </a:t>
                </a:r>
              </a:p>
              <a:p>
                <a:pPr lvl="1"/>
                <a:r>
                  <a:rPr lang="en-US" dirty="0"/>
                  <a:t>Extremely fast computation time.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FEF0E2-3CAE-AA39-6976-DD141018D9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54" t="-1657" r="-454" b="-1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BA62DE8-3258-1269-1B86-3835DFC85C81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CA" i="1"/>
                      <m:t>𝑊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𝑧</m:t>
                        </m:r>
                      </m:e>
                    </m:d>
                    <m:r>
                      <a:rPr lang="en-CA" i="1"/>
                      <m:t>=</m:t>
                    </m:r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𝑊</m:t>
                        </m:r>
                      </m:e>
                      <m:sub>
                        <m:r>
                          <a:rPr lang="en-CA" i="1"/>
                          <m:t>𝑓𝑙𝑜𝑤</m:t>
                        </m:r>
                      </m:sub>
                    </m:sSub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𝑧</m:t>
                        </m:r>
                      </m:e>
                    </m:d>
                    <m:r>
                      <a:rPr lang="en-CA" i="1"/>
                      <m:t>+</m:t>
                    </m:r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𝑊</m:t>
                        </m:r>
                      </m:e>
                      <m:sub>
                        <m:r>
                          <a:rPr lang="en-CA" i="1"/>
                          <m:t>𝑏</m:t>
                        </m:r>
                      </m:sub>
                    </m:sSub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𝑧</m:t>
                        </m:r>
                      </m:e>
                    </m:d>
                    <m:r>
                      <a:rPr lang="en-CA" i="1"/>
                      <m:t>+</m:t>
                    </m:r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𝑊</m:t>
                        </m:r>
                      </m:e>
                      <m:sub>
                        <m:r>
                          <a:rPr lang="en-CA" i="1"/>
                          <m:t>𝑡</m:t>
                        </m:r>
                      </m:sub>
                    </m:sSub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𝑧</m:t>
                        </m:r>
                      </m:e>
                    </m:d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𝑊</m:t>
                        </m:r>
                      </m:e>
                      <m:sub>
                        <m:r>
                          <a:rPr lang="en-CA" i="1"/>
                          <m:t>𝑓𝑙𝑜𝑤</m:t>
                        </m:r>
                      </m:sub>
                    </m:sSub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𝑧</m:t>
                        </m:r>
                      </m:e>
                    </m:d>
                    <m:r>
                      <a:rPr lang="en-CA" i="1"/>
                      <m:t>=</m:t>
                    </m:r>
                    <m:r>
                      <a:rPr lang="en-CA" i="1"/>
                      <m:t>𝑈𝑧</m:t>
                    </m:r>
                  </m:oMath>
                </a14:m>
                <a:r>
                  <a:rPr lang="en-CA" dirty="0">
                    <a:effectLst/>
                  </a:rPr>
                  <a:t>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𝑊</m:t>
                        </m:r>
                      </m:e>
                      <m:sub>
                        <m:r>
                          <a:rPr lang="en-CA" i="1"/>
                          <m:t>𝑏</m:t>
                        </m:r>
                      </m:sub>
                    </m:sSub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𝑧</m:t>
                        </m:r>
                      </m:e>
                    </m:d>
                    <m:r>
                      <a:rPr lang="en-CA" i="1"/>
                      <m:t>=</m:t>
                    </m:r>
                    <m:f>
                      <m:fPr>
                        <m:ctrlPr>
                          <a:rPr lang="en-CA" i="1"/>
                        </m:ctrlPr>
                      </m:fPr>
                      <m:num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/>
                              <m:t>μ</m:t>
                            </m:r>
                          </m:e>
                          <m:sub>
                            <m:r>
                              <a:rPr lang="en-CA" i="1"/>
                              <m:t>𝑏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CA"/>
                          <m:t>π</m:t>
                        </m:r>
                      </m:num>
                      <m:den>
                        <m:r>
                          <a:rPr lang="en-CA" i="1"/>
                          <m:t>2</m:t>
                        </m:r>
                        <m:r>
                          <a:rPr lang="en-CA" i="1"/>
                          <m:t>𝐷</m:t>
                        </m:r>
                      </m:den>
                    </m:f>
                    <m:func>
                      <m:funcPr>
                        <m:ctrlPr>
                          <a:rPr lang="en-CA" i="1"/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/>
                          <m:t>coth</m:t>
                        </m:r>
                      </m:fName>
                      <m:e>
                        <m:d>
                          <m:dPr>
                            <m:ctrlPr>
                              <a:rPr lang="en-CA" i="1"/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/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/>
                                  <m:t>π</m:t>
                                </m:r>
                                <m:r>
                                  <a:rPr lang="en-CA" i="1"/>
                                  <m:t>𝑧</m:t>
                                </m:r>
                              </m:num>
                              <m:den>
                                <m:r>
                                  <a:rPr lang="en-CA" i="1"/>
                                  <m:t>2</m:t>
                                </m:r>
                                <m:r>
                                  <a:rPr lang="en-CA" i="1"/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𝑊</m:t>
                        </m:r>
                      </m:e>
                      <m:sub>
                        <m:r>
                          <a:rPr lang="en-CA" i="1"/>
                          <m:t>𝑡</m:t>
                        </m:r>
                      </m:sub>
                    </m:sSub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𝑧</m:t>
                        </m:r>
                      </m:e>
                    </m:d>
                    <m:r>
                      <a:rPr lang="en-CA" i="1"/>
                      <m:t>=</m:t>
                    </m:r>
                    <m:f>
                      <m:fPr>
                        <m:ctrlPr>
                          <a:rPr lang="en-CA" i="1"/>
                        </m:ctrlPr>
                      </m:fPr>
                      <m:num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/>
                              <m:t>μ</m:t>
                            </m:r>
                          </m:e>
                          <m:sub>
                            <m:r>
                              <a:rPr lang="en-CA" i="1"/>
                              <m:t>𝑡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CA"/>
                          <m:t>π</m:t>
                        </m:r>
                      </m:num>
                      <m:den>
                        <m:r>
                          <a:rPr lang="en-CA" i="1"/>
                          <m:t>2</m:t>
                        </m:r>
                        <m:r>
                          <a:rPr lang="en-CA" i="1"/>
                          <m:t>𝐷</m:t>
                        </m:r>
                      </m:den>
                    </m:f>
                    <m:func>
                      <m:funcPr>
                        <m:ctrlPr>
                          <a:rPr lang="en-CA" i="1"/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/>
                          <m:t>tanh</m:t>
                        </m:r>
                      </m:fName>
                      <m:e>
                        <m:d>
                          <m:dPr>
                            <m:ctrlPr>
                              <a:rPr lang="en-CA" i="1"/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/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/>
                                  <m:t>π</m:t>
                                </m:r>
                                <m:r>
                                  <a:rPr lang="en-CA" i="1"/>
                                  <m:t>𝑧</m:t>
                                </m:r>
                              </m:num>
                              <m:den>
                                <m:r>
                                  <a:rPr lang="en-CA" i="1"/>
                                  <m:t>2</m:t>
                                </m:r>
                                <m:r>
                                  <a:rPr lang="en-CA" i="1"/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i="1"/>
                      <m:t>𝑊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𝑧</m:t>
                        </m:r>
                      </m:e>
                    </m:d>
                    <m:r>
                      <a:rPr lang="en-CA" i="1"/>
                      <m:t>=</m:t>
                    </m:r>
                    <m:r>
                      <a:rPr lang="en-CA" i="1"/>
                      <m:t>𝑈𝑧</m:t>
                    </m:r>
                    <m:r>
                      <a:rPr lang="en-CA" i="1"/>
                      <m:t>+</m:t>
                    </m:r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𝐶</m:t>
                        </m:r>
                      </m:e>
                      <m:sub>
                        <m:r>
                          <a:rPr lang="en-CA" i="1"/>
                          <m:t>𝑏</m:t>
                        </m:r>
                      </m:sub>
                    </m:sSub>
                    <m:func>
                      <m:funcPr>
                        <m:ctrlPr>
                          <a:rPr lang="en-CA" i="1"/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/>
                          <m:t>coth</m:t>
                        </m:r>
                      </m:fName>
                      <m:e>
                        <m:d>
                          <m:dPr>
                            <m:ctrlPr>
                              <a:rPr lang="en-CA" i="1"/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/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/>
                                  <m:t>π</m:t>
                                </m:r>
                                <m:r>
                                  <a:rPr lang="en-CA" i="1"/>
                                  <m:t>𝑧</m:t>
                                </m:r>
                              </m:num>
                              <m:den>
                                <m:r>
                                  <a:rPr lang="en-CA" i="1"/>
                                  <m:t>2</m:t>
                                </m:r>
                                <m:r>
                                  <a:rPr lang="en-CA" i="1"/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n-CA" i="1"/>
                      <m:t>+</m:t>
                    </m:r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𝐶</m:t>
                        </m:r>
                      </m:e>
                      <m:sub>
                        <m:r>
                          <a:rPr lang="en-CA" i="1"/>
                          <m:t>𝑡</m:t>
                        </m:r>
                      </m:sub>
                    </m:sSub>
                    <m:func>
                      <m:funcPr>
                        <m:ctrlPr>
                          <a:rPr lang="en-CA" i="1"/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/>
                          <m:t>tanh</m:t>
                        </m:r>
                      </m:fName>
                      <m:e>
                        <m:d>
                          <m:dPr>
                            <m:ctrlPr>
                              <a:rPr lang="en-CA" i="1"/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/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/>
                                  <m:t>π</m:t>
                                </m:r>
                                <m:r>
                                  <a:rPr lang="en-CA" i="1"/>
                                  <m:t>𝑧</m:t>
                                </m:r>
                              </m:num>
                              <m:den>
                                <m:r>
                                  <a:rPr lang="en-CA" i="1"/>
                                  <m:t>2</m:t>
                                </m:r>
                                <m:r>
                                  <a:rPr lang="en-CA" i="1"/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𝐶</m:t>
                        </m:r>
                      </m:e>
                      <m:sub>
                        <m:r>
                          <a:rPr lang="en-CA" i="1"/>
                          <m:t>𝑏</m:t>
                        </m:r>
                      </m:sub>
                    </m:sSub>
                    <m:r>
                      <a:rPr lang="en-CA" i="1"/>
                      <m:t>=</m:t>
                    </m:r>
                    <m:f>
                      <m:fPr>
                        <m:ctrlPr>
                          <a:rPr lang="en-CA" i="1"/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CA"/>
                          <m:t>π</m:t>
                        </m:r>
                        <m:r>
                          <a:rPr lang="en-CA" i="1"/>
                          <m:t>𝑈</m:t>
                        </m:r>
                        <m:sSubSup>
                          <m:sSubSupPr>
                            <m:ctrlPr>
                              <a:rPr lang="en-CA" i="1"/>
                            </m:ctrlPr>
                          </m:sSubSupPr>
                          <m:e>
                            <m:r>
                              <a:rPr lang="en-CA" i="1"/>
                              <m:t>𝑟</m:t>
                            </m:r>
                          </m:e>
                          <m:sub>
                            <m:r>
                              <a:rPr lang="en-CA" i="1"/>
                              <m:t>𝑏</m:t>
                            </m:r>
                          </m:sub>
                          <m:sup>
                            <m:r>
                              <a:rPr lang="en-CA" i="1"/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CA" i="1"/>
                          <m:t>2</m:t>
                        </m:r>
                        <m:r>
                          <a:rPr lang="en-CA" i="1"/>
                          <m:t>𝐷</m:t>
                        </m:r>
                      </m:den>
                    </m:f>
                  </m:oMath>
                </a14:m>
                <a:r>
                  <a:rPr lang="en-CA" dirty="0">
                    <a:effectLst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𝐶</m:t>
                        </m:r>
                      </m:e>
                      <m:sub>
                        <m:r>
                          <a:rPr lang="en-CA" i="1"/>
                          <m:t>𝑡</m:t>
                        </m:r>
                      </m:sub>
                    </m:sSub>
                    <m:r>
                      <a:rPr lang="en-CA" i="1"/>
                      <m:t>=</m:t>
                    </m:r>
                    <m:f>
                      <m:fPr>
                        <m:ctrlPr>
                          <a:rPr lang="en-CA" i="1"/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CA"/>
                          <m:t>π</m:t>
                        </m:r>
                        <m:r>
                          <a:rPr lang="en-CA" i="1"/>
                          <m:t>𝑈</m:t>
                        </m:r>
                        <m:sSubSup>
                          <m:sSubSupPr>
                            <m:ctrlPr>
                              <a:rPr lang="en-CA" i="1"/>
                            </m:ctrlPr>
                          </m:sSubSupPr>
                          <m:e>
                            <m:r>
                              <a:rPr lang="en-CA" i="1"/>
                              <m:t>𝑟</m:t>
                            </m:r>
                          </m:e>
                          <m:sub>
                            <m:r>
                              <a:rPr lang="en-CA" i="1"/>
                              <m:t>𝑡</m:t>
                            </m:r>
                          </m:sub>
                          <m:sup>
                            <m:r>
                              <a:rPr lang="en-CA" i="1"/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CA" i="1"/>
                          <m:t>2</m:t>
                        </m:r>
                        <m:r>
                          <a:rPr lang="en-CA" i="1"/>
                          <m:t>𝐷</m:t>
                        </m:r>
                      </m:den>
                    </m:f>
                  </m:oMath>
                </a14:m>
                <a:r>
                  <a:rPr lang="en-CA" dirty="0">
                    <a:effectLst/>
                  </a:rPr>
                  <a:t> </a:t>
                </a:r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sz="2300" i="1"/>
                      <m:t>𝑤</m:t>
                    </m:r>
                    <m:d>
                      <m:dPr>
                        <m:ctrlPr>
                          <a:rPr lang="en-CA" sz="2300" i="1"/>
                        </m:ctrlPr>
                      </m:dPr>
                      <m:e>
                        <m:r>
                          <a:rPr lang="en-CA" sz="2300" i="1"/>
                          <m:t>𝑧</m:t>
                        </m:r>
                      </m:e>
                    </m:d>
                    <m:r>
                      <a:rPr lang="en-CA" sz="2300" i="1"/>
                      <m:t>=</m:t>
                    </m:r>
                    <m:r>
                      <a:rPr lang="en-CA" sz="2300" i="1"/>
                      <m:t>𝑈</m:t>
                    </m:r>
                    <m:d>
                      <m:dPr>
                        <m:begChr m:val="["/>
                        <m:endChr m:val="]"/>
                        <m:ctrlPr>
                          <a:rPr lang="en-CA" sz="2300" i="1"/>
                        </m:ctrlPr>
                      </m:dPr>
                      <m:e>
                        <m:r>
                          <a:rPr lang="en-CA" sz="2300" i="1"/>
                          <m:t>1−</m:t>
                        </m:r>
                        <m:sSup>
                          <m:sSupPr>
                            <m:ctrlPr>
                              <a:rPr lang="en-CA" sz="2300" i="1"/>
                            </m:ctrlPr>
                          </m:sSupPr>
                          <m:e>
                            <m:d>
                              <m:dPr>
                                <m:ctrlPr>
                                  <a:rPr lang="en-CA" sz="2300" i="1"/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sz="2300" i="1"/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 sz="2300"/>
                                      <m:t>π</m:t>
                                    </m:r>
                                    <m:sSub>
                                      <m:sSubPr>
                                        <m:ctrlPr>
                                          <a:rPr lang="en-CA" sz="2300" i="1"/>
                                        </m:ctrlPr>
                                      </m:sSubPr>
                                      <m:e>
                                        <m:r>
                                          <a:rPr lang="en-CA" sz="2300" i="1"/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CA" sz="2300" i="1"/>
                                          <m:t>𝑏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CA" sz="2300" i="1"/>
                                      <m:t>2</m:t>
                                    </m:r>
                                    <m:r>
                                      <a:rPr lang="en-CA" sz="2300" i="1"/>
                                      <m:t>𝐷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CA" sz="2300" i="1"/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CA" sz="2300" i="1"/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CA" sz="2300"/>
                              <m:t>csch</m:t>
                            </m:r>
                          </m:e>
                          <m:sup>
                            <m:r>
                              <a:rPr lang="en-CA" sz="2300" i="1"/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CA" sz="2300" i="1"/>
                            </m:ctrlPr>
                          </m:dPr>
                          <m:e>
                            <m:f>
                              <m:fPr>
                                <m:ctrlPr>
                                  <a:rPr lang="en-CA" sz="2300" i="1"/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 sz="2300"/>
                                  <m:t>π</m:t>
                                </m:r>
                                <m:r>
                                  <a:rPr lang="en-CA" sz="2300" i="1"/>
                                  <m:t>𝑧</m:t>
                                </m:r>
                              </m:num>
                              <m:den>
                                <m:r>
                                  <a:rPr lang="en-CA" sz="2300" i="1"/>
                                  <m:t>2</m:t>
                                </m:r>
                                <m:r>
                                  <a:rPr lang="en-CA" sz="2300" i="1"/>
                                  <m:t>𝐷</m:t>
                                </m:r>
                              </m:den>
                            </m:f>
                          </m:e>
                        </m:d>
                        <m:r>
                          <a:rPr lang="en-CA" sz="2300" i="1"/>
                          <m:t>+</m:t>
                        </m:r>
                        <m:sSup>
                          <m:sSupPr>
                            <m:ctrlPr>
                              <a:rPr lang="en-CA" sz="2300" i="1"/>
                            </m:ctrlPr>
                          </m:sSupPr>
                          <m:e>
                            <m:d>
                              <m:dPr>
                                <m:ctrlPr>
                                  <a:rPr lang="en-CA" sz="2300" i="1"/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sz="2300" i="1"/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 sz="2300"/>
                                      <m:t>π</m:t>
                                    </m:r>
                                    <m:sSub>
                                      <m:sSubPr>
                                        <m:ctrlPr>
                                          <a:rPr lang="en-CA" sz="2300" i="1"/>
                                        </m:ctrlPr>
                                      </m:sSubPr>
                                      <m:e>
                                        <m:r>
                                          <a:rPr lang="en-CA" sz="2300" i="1"/>
                                          <m:t>𝑟</m:t>
                                        </m:r>
                                      </m:e>
                                      <m:sub>
                                        <m:r>
                                          <a:rPr lang="en-CA" sz="2300" i="1"/>
                                          <m:t>𝑡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en-CA" sz="2300" i="1"/>
                                      <m:t>2</m:t>
                                    </m:r>
                                    <m:r>
                                      <a:rPr lang="en-CA" sz="2300" i="1"/>
                                      <m:t>𝐷</m:t>
                                    </m:r>
                                  </m:den>
                                </m:f>
                              </m:e>
                            </m:d>
                          </m:e>
                          <m:sup>
                            <m:r>
                              <a:rPr lang="en-CA" sz="2300" i="1"/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CA" sz="2300" i="1"/>
                            </m:ctrlPr>
                          </m:sSupPr>
                          <m:e>
                            <m:r>
                              <m:rPr>
                                <m:nor/>
                              </m:rPr>
                              <a:rPr lang="en-CA" sz="2300"/>
                              <m:t>sech</m:t>
                            </m:r>
                          </m:e>
                          <m:sup>
                            <m:r>
                              <a:rPr lang="en-CA" sz="2300" i="1"/>
                              <m:t>2</m:t>
                            </m:r>
                          </m:sup>
                        </m:sSup>
                        <m:d>
                          <m:dPr>
                            <m:ctrlPr>
                              <a:rPr lang="en-CA" sz="2300" i="1"/>
                            </m:ctrlPr>
                          </m:dPr>
                          <m:e>
                            <m:f>
                              <m:fPr>
                                <m:ctrlPr>
                                  <a:rPr lang="en-CA" sz="2300" i="1"/>
                                </m:ctrlPr>
                              </m:fPr>
                              <m:num>
                                <m:r>
                                  <m:rPr>
                                    <m:sty m:val="p"/>
                                  </m:rPr>
                                  <a:rPr lang="en-CA" sz="2300"/>
                                  <m:t>π</m:t>
                                </m:r>
                                <m:r>
                                  <a:rPr lang="en-CA" sz="2300" i="1"/>
                                  <m:t>𝑧</m:t>
                                </m:r>
                              </m:num>
                              <m:den>
                                <m:r>
                                  <a:rPr lang="en-CA" sz="2300" i="1"/>
                                  <m:t>2</m:t>
                                </m:r>
                                <m:r>
                                  <a:rPr lang="en-CA" sz="2300" i="1"/>
                                  <m:t>𝐷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r>
                  <a:rPr lang="en-CA" sz="2300" dirty="0">
                    <a:effectLst/>
                  </a:rPr>
                  <a:t> </a:t>
                </a:r>
                <a:endParaRPr lang="en-CA" sz="23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𝐶</m:t>
                        </m:r>
                      </m:e>
                      <m:sub>
                        <m:r>
                          <a:rPr lang="en-CA" i="1"/>
                          <m:t>𝑝</m:t>
                        </m:r>
                      </m:sub>
                    </m:sSub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𝑧</m:t>
                        </m:r>
                      </m:e>
                    </m:d>
                    <m:r>
                      <a:rPr lang="en-CA" i="1"/>
                      <m:t>=1−</m:t>
                    </m:r>
                    <m:f>
                      <m:fPr>
                        <m:ctrlPr>
                          <a:rPr lang="en-CA" i="1"/>
                        </m:ctrlPr>
                      </m:fPr>
                      <m:num>
                        <m:sSup>
                          <m:sSupPr>
                            <m:ctrlPr>
                              <a:rPr lang="en-CA" i="1"/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CA" i="1"/>
                                </m:ctrlPr>
                              </m:dPr>
                              <m:e>
                                <m:r>
                                  <a:rPr lang="en-CA" i="1"/>
                                  <m:t>𝑤</m:t>
                                </m:r>
                                <m:d>
                                  <m:dPr>
                                    <m:ctrlPr>
                                      <a:rPr lang="en-CA" i="1"/>
                                    </m:ctrlPr>
                                  </m:dPr>
                                  <m:e>
                                    <m:r>
                                      <a:rPr lang="en-CA" i="1"/>
                                      <m:t>𝑧</m:t>
                                    </m:r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CA" i="1"/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CA" i="1"/>
                            </m:ctrlPr>
                          </m:sSupPr>
                          <m:e>
                            <m:r>
                              <a:rPr lang="en-CA" i="1"/>
                              <m:t>𝑈</m:t>
                            </m:r>
                          </m:e>
                          <m:sup>
                            <m:r>
                              <a:rPr lang="en-CA" i="1"/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CA" dirty="0">
                    <a:effectLst/>
                  </a:rPr>
                  <a:t> </a:t>
                </a: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BA62DE8-3258-1269-1B86-3835DFC85C8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447" b="-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BAB74-5B4D-14EC-FF37-4B4ECBFA3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E95036-11DE-4CE7-1654-07181D74F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4039637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5F0F3-05BF-EF7B-8C20-4835948E5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5AE86-D8F4-02CD-2EFA-CE138E0FEBA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Comparison with Data: </a:t>
            </a:r>
          </a:p>
          <a:p>
            <a:pPr lvl="1"/>
            <a:r>
              <a:rPr lang="en-US" dirty="0"/>
              <a:t>Convergent Section: Some agreement. The model accurately predicts the pressure drop as flow accelerates. </a:t>
            </a:r>
          </a:p>
          <a:p>
            <a:pPr lvl="1"/>
            <a:r>
              <a:rPr lang="en-US" dirty="0"/>
              <a:t>Divergent Section: Significant Discrepancy. </a:t>
            </a:r>
          </a:p>
          <a:p>
            <a:pPr lvl="2"/>
            <a:r>
              <a:rPr lang="en-US" dirty="0"/>
              <a:t>Huge pressure drop.</a:t>
            </a:r>
          </a:p>
          <a:p>
            <a:pPr lvl="2"/>
            <a:r>
              <a:rPr lang="en-US" dirty="0"/>
              <a:t>Model predicts full pressure recovery.</a:t>
            </a:r>
          </a:p>
          <a:p>
            <a:pPr lvl="2"/>
            <a:r>
              <a:rPr lang="en-US" dirty="0"/>
              <a:t>Experiment shows a "Pressure Plateau”.</a:t>
            </a:r>
          </a:p>
          <a:p>
            <a:r>
              <a:rPr lang="en-US" b="1" dirty="0"/>
              <a:t>Limitation Identified:</a:t>
            </a:r>
          </a:p>
          <a:p>
            <a:pPr lvl="1"/>
            <a:r>
              <a:rPr lang="en-US" dirty="0"/>
              <a:t>Is this error due to the Semicircular Geometry approximation? </a:t>
            </a:r>
          </a:p>
          <a:p>
            <a:pPr lvl="1"/>
            <a:r>
              <a:rPr lang="en-US" dirty="0"/>
              <a:t>Need to refine the geometry to match the experiment exactly.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28DE26-FDE1-896E-AF4A-DDE8FEFB9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77853B-5C5D-DA07-F90A-0AD57C72F1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7" name="Content Placeholder 6" descr="A diagram of a field&#10;&#10;AI-generated content may be incorrect.">
            <a:extLst>
              <a:ext uri="{FF2B5EF4-FFF2-40B4-BE49-F238E27FC236}">
                <a16:creationId xmlns:a16="http://schemas.microsoft.com/office/drawing/2014/main" id="{DF0185A6-4DB3-FD1F-DD32-2B3E3039FAC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8301" y="1413164"/>
            <a:ext cx="2870200" cy="1435100"/>
          </a:xfrm>
          <a:prstGeom prst="rect">
            <a:avLst/>
          </a:prstGeom>
        </p:spPr>
      </p:pic>
      <p:pic>
        <p:nvPicPr>
          <p:cNvPr id="8" name="Picture 7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FE266274-B2B2-F30F-4C63-95ECC24220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3471" y="3070244"/>
            <a:ext cx="3959860" cy="263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78879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2E71DB-630E-D0A6-9611-46852DAFB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 Panel Method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AD789-F5F1-88A3-1C02-A95983BF5BF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Refinement: </a:t>
            </a:r>
          </a:p>
          <a:p>
            <a:pPr lvl="1"/>
            <a:r>
              <a:rPr lang="en-US" dirty="0"/>
              <a:t>Source Panel Method to better approximate the experimental geometry. </a:t>
            </a:r>
          </a:p>
          <a:p>
            <a:r>
              <a:rPr lang="en-US" b="1" dirty="0"/>
              <a:t>Implementation: </a:t>
            </a:r>
          </a:p>
          <a:p>
            <a:pPr lvl="1"/>
            <a:r>
              <a:rPr lang="en-US" dirty="0"/>
              <a:t>Discretized the channel wall into N panels with uniform source distributions. </a:t>
            </a:r>
          </a:p>
          <a:p>
            <a:pPr lvl="1"/>
            <a:r>
              <a:rPr lang="en-US" dirty="0"/>
              <a:t>Solved linear system for source strengths to satisfy BC. </a:t>
            </a:r>
          </a:p>
          <a:p>
            <a:r>
              <a:rPr lang="en-US" b="1" dirty="0"/>
              <a:t>Goal: </a:t>
            </a:r>
          </a:p>
          <a:p>
            <a:pPr lvl="1"/>
            <a:r>
              <a:rPr lang="en-US" dirty="0"/>
              <a:t>Determine if correct geometry more accurately predict pressure drop.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E490C2-71D2-F8F1-6921-B2BDA49F277B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CA" i="1"/>
                      <m:t>𝜙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𝑥</m:t>
                        </m:r>
                        <m:r>
                          <a:rPr lang="en-CA" i="1"/>
                          <m:t>,</m:t>
                        </m:r>
                        <m:r>
                          <a:rPr lang="en-CA" i="1"/>
                          <m:t>𝑦</m:t>
                        </m:r>
                      </m:e>
                    </m:d>
                    <m:r>
                      <a:rPr lang="en-CA" i="1"/>
                      <m:t>=</m:t>
                    </m:r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𝑈</m:t>
                        </m:r>
                      </m:e>
                      <m:sub>
                        <m:r>
                          <a:rPr lang="en-CA"/>
                          <m:t>∞</m:t>
                        </m:r>
                      </m:sub>
                    </m:sSub>
                    <m:r>
                      <a:rPr lang="en-CA" i="1"/>
                      <m:t>𝑥</m:t>
                    </m:r>
                    <m:r>
                      <a:rPr lang="en-CA" i="1"/>
                      <m:t>+</m:t>
                    </m:r>
                    <m:nary>
                      <m:naryPr>
                        <m:chr m:val="∑"/>
                        <m:ctrlPr>
                          <a:rPr lang="en-CA" i="1"/>
                        </m:ctrlPr>
                      </m:naryPr>
                      <m:sub>
                        <m:r>
                          <a:rPr lang="en-CA" i="1"/>
                          <m:t>𝑗</m:t>
                        </m:r>
                        <m:r>
                          <a:rPr lang="en-CA" i="1"/>
                          <m:t>=1</m:t>
                        </m:r>
                      </m:sub>
                      <m:sup>
                        <m:r>
                          <a:rPr lang="en-CA" i="1"/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/>
                              <m:t>ϕ</m:t>
                            </m:r>
                          </m:e>
                          <m:sub>
                            <m:r>
                              <a:rPr lang="en-CA" i="1"/>
                              <m:t>𝑗</m:t>
                            </m:r>
                          </m:sub>
                        </m:sSub>
                        <m:d>
                          <m:dPr>
                            <m:ctrlPr>
                              <a:rPr lang="en-CA" i="1"/>
                            </m:ctrlPr>
                          </m:dPr>
                          <m:e>
                            <m:r>
                              <a:rPr lang="en-CA" i="1"/>
                              <m:t>𝑥</m:t>
                            </m:r>
                            <m:r>
                              <a:rPr lang="en-CA" i="1"/>
                              <m:t>,</m:t>
                            </m:r>
                            <m:r>
                              <a:rPr lang="en-CA" i="1"/>
                              <m:t>𝑦</m:t>
                            </m:r>
                          </m:e>
                        </m:d>
                      </m:e>
                    </m:nary>
                  </m:oMath>
                </a14:m>
                <a:endParaRPr lang="en-CA" dirty="0"/>
              </a:p>
              <a:p>
                <a:r>
                  <a:rPr lang="en-CA" dirty="0"/>
                  <a:t>Map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CA" dirty="0"/>
                  <a:t> to a local coordinate system 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CA"/>
                          <m:t>ξ</m:t>
                        </m:r>
                        <m:r>
                          <a:rPr lang="en-CA" i="1"/>
                          <m:t>,</m:t>
                        </m:r>
                        <m:r>
                          <m:rPr>
                            <m:sty m:val="p"/>
                          </m:rPr>
                          <a:rPr lang="en-CA"/>
                          <m:t>η</m:t>
                        </m:r>
                      </m:e>
                    </m:d>
                  </m:oMath>
                </a14:m>
                <a:r>
                  <a:rPr lang="en-CA" dirty="0"/>
                  <a:t> fixed to panel j, where the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/>
                      <m:t>ξ</m:t>
                    </m:r>
                  </m:oMath>
                </a14:m>
                <a:r>
                  <a:rPr lang="en-CA" dirty="0"/>
                  <a:t>-axis lies along the panel from </a:t>
                </a:r>
                <a14:m>
                  <m:oMath xmlns:m="http://schemas.openxmlformats.org/officeDocument/2006/math">
                    <m:r>
                      <a:rPr lang="en-CA" i="1"/>
                      <m:t>0</m:t>
                    </m:r>
                  </m:oMath>
                </a14:m>
                <a:r>
                  <a:rPr lang="en-CA" dirty="0"/>
                  <a:t> to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𝐿</m:t>
                        </m:r>
                      </m:e>
                      <m:sub>
                        <m:r>
                          <a:rPr lang="en-CA" i="1"/>
                          <m:t>𝑗</m:t>
                        </m:r>
                      </m:sub>
                    </m:sSub>
                  </m:oMath>
                </a14:m>
                <a:r>
                  <a:rPr lang="en-CA" dirty="0"/>
                  <a:t>, and the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/>
                      <m:t>η</m:t>
                    </m:r>
                  </m:oMath>
                </a14:m>
                <a:r>
                  <a:rPr lang="en-CA" dirty="0"/>
                  <a:t>-axis is normal to it.</a:t>
                </a:r>
                <a:r>
                  <a:rPr lang="en-CA" dirty="0">
                    <a:effectLst/>
                  </a:rPr>
                  <a:t> </a:t>
                </a:r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CA"/>
                          <m:t>ϕ</m:t>
                        </m:r>
                      </m:e>
                      <m:sub>
                        <m:r>
                          <a:rPr lang="en-CA" i="1"/>
                          <m:t>𝑗</m:t>
                        </m:r>
                      </m:sub>
                    </m:sSub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CA"/>
                          <m:t>ξ</m:t>
                        </m:r>
                        <m:r>
                          <a:rPr lang="en-CA" i="1"/>
                          <m:t>,</m:t>
                        </m:r>
                        <m:r>
                          <m:rPr>
                            <m:sty m:val="p"/>
                          </m:rPr>
                          <a:rPr lang="en-CA"/>
                          <m:t>η</m:t>
                        </m:r>
                      </m:e>
                    </m:d>
                    <m:r>
                      <a:rPr lang="en-CA" i="1"/>
                      <m:t>=</m:t>
                    </m:r>
                    <m:f>
                      <m:fPr>
                        <m:ctrlPr>
                          <a:rPr lang="en-CA" i="1"/>
                        </m:ctrlPr>
                      </m:fPr>
                      <m:num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/>
                              <m:t>σ</m:t>
                            </m:r>
                          </m:e>
                          <m:sub>
                            <m:r>
                              <a:rPr lang="en-CA" i="1"/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/>
                          <m:t>2</m:t>
                        </m:r>
                        <m:r>
                          <m:rPr>
                            <m:sty m:val="p"/>
                          </m:rPr>
                          <a:rPr lang="en-CA"/>
                          <m:t>π</m:t>
                        </m:r>
                      </m:den>
                    </m:f>
                    <m:nary>
                      <m:naryPr>
                        <m:ctrlPr>
                          <a:rPr lang="en-CA" i="1"/>
                        </m:ctrlPr>
                      </m:naryPr>
                      <m:sub>
                        <m:r>
                          <a:rPr lang="en-CA" i="1"/>
                          <m:t>0</m:t>
                        </m:r>
                      </m:sub>
                      <m:sup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a:rPr lang="en-CA" i="1"/>
                              <m:t>𝐿</m:t>
                            </m:r>
                          </m:e>
                          <m:sub>
                            <m:r>
                              <a:rPr lang="en-CA" i="1"/>
                              <m:t>𝑗</m:t>
                            </m:r>
                          </m:sub>
                        </m:sSub>
                      </m:sup>
                      <m:e>
                        <m:func>
                          <m:funcPr>
                            <m:ctrlPr>
                              <a:rPr lang="en-CA" i="1"/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/>
                              <m:t>ln</m:t>
                            </m:r>
                          </m:fName>
                          <m:e>
                            <m:rad>
                              <m:radPr>
                                <m:degHide m:val="on"/>
                                <m:ctrlPr>
                                  <a:rPr lang="en-CA" i="1"/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en-CA" i="1"/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i="1"/>
                                        </m:ctrlPr>
                                      </m:dPr>
                                      <m:e>
                                        <m:r>
                                          <a:rPr lang="en-CA" i="1"/>
                                          <m:t>𝜉</m:t>
                                        </m:r>
                                        <m:r>
                                          <a:rPr lang="en-CA" i="1"/>
                                          <m:t>−</m:t>
                                        </m:r>
                                        <m:r>
                                          <a:rPr lang="en-CA" i="1"/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CA" i="1"/>
                                      <m:t>2</m:t>
                                    </m:r>
                                  </m:sup>
                                </m:sSup>
                                <m:r>
                                  <a:rPr lang="en-CA" i="1"/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/>
                                    </m:ctrlPr>
                                  </m:sSupPr>
                                  <m:e>
                                    <m:r>
                                      <a:rPr lang="en-CA" i="1"/>
                                      <m:t>𝜂</m:t>
                                    </m:r>
                                  </m:e>
                                  <m:sup>
                                    <m:r>
                                      <a:rPr lang="en-CA" i="1"/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func>
                        <m:r>
                          <a:rPr lang="en-CA" i="1"/>
                          <m:t> </m:t>
                        </m:r>
                        <m:r>
                          <a:rPr lang="en-CA" i="1"/>
                          <m:t>𝑑𝑡</m:t>
                        </m:r>
                      </m:e>
                    </m:nary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/>
                          <m:t>ξ</m:t>
                        </m:r>
                      </m:sub>
                    </m:sSub>
                    <m:r>
                      <a:rPr lang="en-CA" i="1"/>
                      <m:t>=</m:t>
                    </m:r>
                    <m:f>
                      <m:fPr>
                        <m:ctrlPr>
                          <a:rPr lang="en-CA" i="1"/>
                        </m:ctrlPr>
                      </m:fPr>
                      <m:num>
                        <m:r>
                          <a:rPr lang="en-CA"/>
                          <m:t>∂</m:t>
                        </m:r>
                        <m:r>
                          <m:rPr>
                            <m:sty m:val="p"/>
                          </m:rPr>
                          <a:rPr lang="en-CA"/>
                          <m:t>ϕ</m:t>
                        </m:r>
                      </m:num>
                      <m:den>
                        <m:r>
                          <a:rPr lang="en-CA"/>
                          <m:t>∂</m:t>
                        </m:r>
                        <m:r>
                          <m:rPr>
                            <m:sty m:val="p"/>
                          </m:rPr>
                          <a:rPr lang="en-CA"/>
                          <m:t>ξ</m:t>
                        </m:r>
                      </m:den>
                    </m:f>
                    <m:r>
                      <a:rPr lang="en-CA" i="1"/>
                      <m:t>=</m:t>
                    </m:r>
                    <m:f>
                      <m:fPr>
                        <m:ctrlPr>
                          <a:rPr lang="en-CA" i="1"/>
                        </m:ctrlPr>
                      </m:fPr>
                      <m:num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/>
                              <m:t>σ</m:t>
                            </m:r>
                          </m:e>
                          <m:sub>
                            <m:r>
                              <a:rPr lang="en-CA" i="1"/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/>
                          <m:t>4</m:t>
                        </m:r>
                        <m:r>
                          <m:rPr>
                            <m:sty m:val="p"/>
                          </m:rPr>
                          <a:rPr lang="en-CA"/>
                          <m:t>π</m:t>
                        </m:r>
                      </m:den>
                    </m:f>
                    <m:func>
                      <m:funcPr>
                        <m:ctrlPr>
                          <a:rPr lang="en-CA" i="1"/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/>
                          <m:t>ln</m:t>
                        </m:r>
                      </m:fName>
                      <m:e>
                        <m:d>
                          <m:dPr>
                            <m:ctrlPr>
                              <a:rPr lang="en-CA" i="1"/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/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CA" i="1"/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CA" i="1"/>
                                        </m:ctrlPr>
                                      </m:d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CA"/>
                                          <m:t>ξ</m:t>
                                        </m:r>
                                        <m:r>
                                          <a:rPr lang="en-CA" i="1"/>
                                          <m:t>−</m:t>
                                        </m:r>
                                        <m:sSub>
                                          <m:sSubPr>
                                            <m:ctrlPr>
                                              <a:rPr lang="en-CA" i="1"/>
                                            </m:ctrlPr>
                                          </m:sSubPr>
                                          <m:e>
                                            <m:r>
                                              <a:rPr lang="en-CA" i="1"/>
                                              <m:t>𝐿</m:t>
                                            </m:r>
                                          </m:e>
                                          <m:sub>
                                            <m:r>
                                              <a:rPr lang="en-CA" i="1"/>
                                              <m:t>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  <m:sup>
                                    <m:r>
                                      <a:rPr lang="en-CA" i="1"/>
                                      <m:t>2</m:t>
                                    </m:r>
                                  </m:sup>
                                </m:sSup>
                                <m:r>
                                  <a:rPr lang="en-CA" i="1"/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/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/>
                                      <m:t>η</m:t>
                                    </m:r>
                                  </m:e>
                                  <m:sup>
                                    <m:r>
                                      <a:rPr lang="en-CA" i="1"/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sSup>
                                  <m:sSupPr>
                                    <m:ctrlPr>
                                      <a:rPr lang="en-CA" i="1"/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/>
                                      <m:t>ξ</m:t>
                                    </m:r>
                                  </m:e>
                                  <m:sup>
                                    <m:r>
                                      <a:rPr lang="en-CA" i="1"/>
                                      <m:t>2</m:t>
                                    </m:r>
                                  </m:sup>
                                </m:sSup>
                                <m:r>
                                  <a:rPr lang="en-CA" i="1"/>
                                  <m:t>+</m:t>
                                </m:r>
                                <m:sSup>
                                  <m:sSupPr>
                                    <m:ctrlPr>
                                      <a:rPr lang="en-CA" i="1"/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CA"/>
                                      <m:t>η</m:t>
                                    </m:r>
                                  </m:e>
                                  <m:sup>
                                    <m:r>
                                      <a:rPr lang="en-CA" i="1"/>
                                      <m:t>2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𝑢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CA"/>
                          <m:t>η</m:t>
                        </m:r>
                      </m:sub>
                    </m:sSub>
                    <m:r>
                      <a:rPr lang="en-CA" i="1"/>
                      <m:t>=</m:t>
                    </m:r>
                    <m:f>
                      <m:fPr>
                        <m:ctrlPr>
                          <a:rPr lang="en-CA" i="1"/>
                        </m:ctrlPr>
                      </m:fPr>
                      <m:num>
                        <m:r>
                          <a:rPr lang="en-CA"/>
                          <m:t>∂</m:t>
                        </m:r>
                        <m:r>
                          <m:rPr>
                            <m:sty m:val="p"/>
                          </m:rPr>
                          <a:rPr lang="en-CA"/>
                          <m:t>ϕ</m:t>
                        </m:r>
                      </m:num>
                      <m:den>
                        <m:r>
                          <a:rPr lang="en-CA"/>
                          <m:t>∂</m:t>
                        </m:r>
                        <m:r>
                          <m:rPr>
                            <m:sty m:val="p"/>
                          </m:rPr>
                          <a:rPr lang="en-CA"/>
                          <m:t>η</m:t>
                        </m:r>
                      </m:den>
                    </m:f>
                    <m:r>
                      <a:rPr lang="en-CA" i="1"/>
                      <m:t>=</m:t>
                    </m:r>
                    <m:f>
                      <m:fPr>
                        <m:ctrlPr>
                          <a:rPr lang="en-CA" i="1"/>
                        </m:ctrlPr>
                      </m:fPr>
                      <m:num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CA"/>
                              <m:t>σ</m:t>
                            </m:r>
                          </m:e>
                          <m:sub>
                            <m:r>
                              <a:rPr lang="en-CA" i="1"/>
                              <m:t>𝑗</m:t>
                            </m:r>
                          </m:sub>
                        </m:sSub>
                      </m:num>
                      <m:den>
                        <m:r>
                          <a:rPr lang="en-CA" i="1"/>
                          <m:t>2</m:t>
                        </m:r>
                        <m:r>
                          <m:rPr>
                            <m:sty m:val="p"/>
                          </m:rPr>
                          <a:rPr lang="en-CA"/>
                          <m:t>π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CA" i="1"/>
                        </m:ctrlPr>
                      </m:dPr>
                      <m:e>
                        <m:func>
                          <m:funcPr>
                            <m:ctrlPr>
                              <a:rPr lang="en-CA" i="1"/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/>
                              <m:t>arctan</m:t>
                            </m:r>
                          </m:fName>
                          <m:e>
                            <m:d>
                              <m:dPr>
                                <m:ctrlPr>
                                  <a:rPr lang="en-CA" i="1"/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i="1"/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/>
                                      <m:t>η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CA"/>
                                      <m:t>ξ</m:t>
                                    </m:r>
                                    <m:r>
                                      <a:rPr lang="en-CA" i="1"/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CA" i="1"/>
                                        </m:ctrlPr>
                                      </m:sSubPr>
                                      <m:e>
                                        <m:r>
                                          <a:rPr lang="en-CA" i="1"/>
                                          <m:t>𝐿</m:t>
                                        </m:r>
                                      </m:e>
                                      <m:sub>
                                        <m:r>
                                          <a:rPr lang="en-CA" i="1"/>
                                          <m:t>𝑗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  <m:r>
                          <a:rPr lang="en-CA" i="1"/>
                          <m:t>−</m:t>
                        </m:r>
                        <m:func>
                          <m:funcPr>
                            <m:ctrlPr>
                              <a:rPr lang="en-CA" i="1"/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CA"/>
                              <m:t>arctan</m:t>
                            </m:r>
                          </m:fName>
                          <m:e>
                            <m:d>
                              <m:dPr>
                                <m:ctrlPr>
                                  <a:rPr lang="en-CA" i="1"/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CA" i="1"/>
                                    </m:ctrlPr>
                                  </m:fPr>
                                  <m:num>
                                    <m:r>
                                      <m:rPr>
                                        <m:sty m:val="p"/>
                                      </m:rPr>
                                      <a:rPr lang="en-CA"/>
                                      <m:t>η</m:t>
                                    </m:r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n-CA"/>
                                      <m:t>ξ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CA" i="1"/>
                        </m:ctrlPr>
                      </m:accPr>
                      <m:e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a:rPr lang="en-CA" i="1"/>
                              <m:t>𝑉</m:t>
                            </m:r>
                          </m:e>
                          <m:sub>
                            <m:r>
                              <a:rPr lang="en-CA" i="1"/>
                              <m:t>𝑖</m:t>
                            </m:r>
                          </m:sub>
                        </m:sSub>
                      </m:e>
                    </m:acc>
                    <m:r>
                      <a:rPr lang="en-CA"/>
                      <m:t>⋅</m:t>
                    </m:r>
                    <m:acc>
                      <m:accPr>
                        <m:chr m:val="⃗"/>
                        <m:ctrlPr>
                          <a:rPr lang="en-CA" i="1"/>
                        </m:ctrlPr>
                      </m:accPr>
                      <m:e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a:rPr lang="en-CA" i="1"/>
                              <m:t>𝑛</m:t>
                            </m:r>
                          </m:e>
                          <m:sub>
                            <m:r>
                              <a:rPr lang="en-CA" i="1"/>
                              <m:t>𝑖</m:t>
                            </m:r>
                          </m:sub>
                        </m:sSub>
                      </m:e>
                    </m:acc>
                    <m:r>
                      <a:rPr lang="en-CA" i="1"/>
                      <m:t>=0</m:t>
                    </m:r>
                  </m:oMath>
                </a14:m>
                <a:endParaRPr lang="en-CA" dirty="0"/>
              </a:p>
              <a:p>
                <a:r>
                  <a:rPr lang="en-US" dirty="0"/>
                  <a:t>Solve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𝐴</m:t>
                        </m:r>
                      </m:e>
                      <m:sub>
                        <m:r>
                          <a:rPr lang="en-CA" i="1"/>
                          <m:t>𝑖𝑗</m:t>
                        </m:r>
                      </m:sub>
                    </m:sSub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𝜎</m:t>
                        </m:r>
                      </m:e>
                      <m:sub>
                        <m:r>
                          <a:rPr lang="en-CA" i="1"/>
                          <m:t>𝑗</m:t>
                        </m:r>
                      </m:sub>
                    </m:sSub>
                    <m:r>
                      <a:rPr lang="en-CA" i="1"/>
                      <m:t>=−</m:t>
                    </m:r>
                    <m:acc>
                      <m:accPr>
                        <m:chr m:val="⃗"/>
                        <m:ctrlPr>
                          <a:rPr lang="en-CA" i="1"/>
                        </m:ctrlPr>
                      </m:accPr>
                      <m:e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a:rPr lang="en-CA" i="1"/>
                              <m:t>𝑈</m:t>
                            </m:r>
                          </m:e>
                          <m:sub>
                            <m:r>
                              <a:rPr lang="en-CA"/>
                              <m:t>∞</m:t>
                            </m:r>
                          </m:sub>
                        </m:sSub>
                      </m:e>
                    </m:acc>
                    <m:r>
                      <a:rPr lang="en-CA"/>
                      <m:t>⋅</m:t>
                    </m:r>
                    <m:acc>
                      <m:accPr>
                        <m:chr m:val="⃗"/>
                        <m:ctrlPr>
                          <a:rPr lang="en-CA" i="1"/>
                        </m:ctrlPr>
                      </m:accPr>
                      <m:e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a:rPr lang="en-CA" i="1"/>
                              <m:t>𝑛</m:t>
                            </m:r>
                          </m:e>
                          <m:sub>
                            <m:r>
                              <a:rPr lang="en-CA" i="1"/>
                              <m:t>𝑖</m:t>
                            </m:r>
                          </m:sub>
                        </m:sSub>
                      </m:e>
                    </m:acc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CA" i="1"/>
                        </m:ctrlPr>
                      </m:sSubPr>
                      <m:e>
                        <m:r>
                          <a:rPr lang="en-CA" i="1"/>
                          <m:t>𝐶</m:t>
                        </m:r>
                      </m:e>
                      <m:sub>
                        <m:r>
                          <a:rPr lang="en-CA" i="1"/>
                          <m:t>𝑝</m:t>
                        </m:r>
                        <m:r>
                          <a:rPr lang="en-CA" i="1"/>
                          <m:t>,</m:t>
                        </m:r>
                        <m:r>
                          <a:rPr lang="en-CA" i="1"/>
                          <m:t>𝑖</m:t>
                        </m:r>
                      </m:sub>
                    </m:sSub>
                    <m:r>
                      <a:rPr lang="en-CA" i="1"/>
                      <m:t>=1−</m:t>
                    </m:r>
                    <m:sSup>
                      <m:sSupPr>
                        <m:ctrlPr>
                          <a:rPr lang="en-CA" i="1"/>
                        </m:ctrlPr>
                      </m:sSupPr>
                      <m:e>
                        <m:d>
                          <m:dPr>
                            <m:ctrlPr>
                              <a:rPr lang="en-CA" i="1"/>
                            </m:ctrlPr>
                          </m:dPr>
                          <m:e>
                            <m:f>
                              <m:fPr>
                                <m:ctrlPr>
                                  <a:rPr lang="en-CA" i="1"/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CA" i="1"/>
                                    </m:ctrlPr>
                                  </m:sSubPr>
                                  <m:e>
                                    <m:r>
                                      <a:rPr lang="en-CA" i="1"/>
                                      <m:t>𝑉</m:t>
                                    </m:r>
                                  </m:e>
                                  <m:sub>
                                    <m:r>
                                      <a:rPr lang="en-CA" i="1"/>
                                      <m:t>𝑡</m:t>
                                    </m:r>
                                    <m:r>
                                      <a:rPr lang="en-CA" i="1"/>
                                      <m:t>,</m:t>
                                    </m:r>
                                    <m:r>
                                      <a:rPr lang="en-CA" i="1"/>
                                      <m:t>𝑖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CA" i="1"/>
                                    </m:ctrlPr>
                                  </m:sSubPr>
                                  <m:e>
                                    <m:r>
                                      <a:rPr lang="en-CA" i="1"/>
                                      <m:t>𝑈</m:t>
                                    </m:r>
                                  </m:e>
                                  <m:sub>
                                    <m:r>
                                      <a:rPr lang="en-CA"/>
                                      <m:t>∞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CA" i="1"/>
                          <m:t>2</m:t>
                        </m:r>
                      </m:sup>
                    </m:sSup>
                  </m:oMath>
                </a14:m>
                <a:endParaRPr lang="en-CA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0E490C2-71D2-F8F1-6921-B2BDA49F27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t="-7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672417-4734-EAC8-C3FD-C3373E1F4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0133FD-98F9-2577-A6BE-73C4143A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0992290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8523-DBD5-F39C-642D-6FCEC2DA5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FE561-1EA5-3DA4-6731-275681E7E6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Results: </a:t>
            </a:r>
          </a:p>
          <a:p>
            <a:pPr lvl="1"/>
            <a:r>
              <a:rPr lang="en-US" dirty="0"/>
              <a:t>The Source Panel Method captures the smooth wall profile perfectly. </a:t>
            </a:r>
          </a:p>
          <a:p>
            <a:pPr lvl="1"/>
            <a:r>
              <a:rPr lang="en-US" dirty="0"/>
              <a:t>The pressure recovery profile remains incorrect (still rises sharply). </a:t>
            </a:r>
          </a:p>
          <a:p>
            <a:r>
              <a:rPr lang="en-US" b="1" dirty="0"/>
              <a:t>Critical Finding: </a:t>
            </a:r>
          </a:p>
          <a:p>
            <a:pPr lvl="1"/>
            <a:r>
              <a:rPr lang="en-US" dirty="0"/>
              <a:t>Geometry is not the limiting factor. </a:t>
            </a:r>
          </a:p>
          <a:p>
            <a:pPr lvl="1"/>
            <a:r>
              <a:rPr lang="en-US" dirty="0"/>
              <a:t>Pure Potential Flow (Inviscid) theory cannot predict the wake behavior in the divergent section. </a:t>
            </a:r>
          </a:p>
          <a:p>
            <a:r>
              <a:rPr lang="en-US" b="1" dirty="0"/>
              <a:t>Conclusion: </a:t>
            </a:r>
            <a:r>
              <a:rPr lang="en-US" dirty="0"/>
              <a:t>The Simplified Model must include viscous effects to be useful.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87E65-81CE-67E4-63AE-D4747045D5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F2BEC5-7404-5262-A2AA-18F685F78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11" name="Content Placeholder 8" descr="A diagram of a pressure gauge&#10;&#10;AI-generated content may be incorrect.">
            <a:extLst>
              <a:ext uri="{FF2B5EF4-FFF2-40B4-BE49-F238E27FC236}">
                <a16:creationId xmlns:a16="http://schemas.microsoft.com/office/drawing/2014/main" id="{9C7F0586-10E2-7A1E-BA1D-7780DED7B9B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3290" y="1794883"/>
            <a:ext cx="2764301" cy="3688699"/>
          </a:xfrm>
          <a:prstGeom prst="rect">
            <a:avLst/>
          </a:prstGeom>
        </p:spPr>
      </p:pic>
      <p:pic>
        <p:nvPicPr>
          <p:cNvPr id="12" name="Content Placeholder 9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43E17331-3621-6757-E5D8-7510D5FCB68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7591" y="2405524"/>
            <a:ext cx="3707087" cy="2467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168975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E17A5-568D-F9D5-8525-34109E4D0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Viscous-Inviscid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175BD3-C3A2-0E1F-E9D2-0022DDDEDD5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Coupled the Source Panel Method with Thwaites’ Integral Boundary Layer Theory. </a:t>
                </a:r>
              </a:p>
              <a:p>
                <a:r>
                  <a:rPr lang="en-US" dirty="0"/>
                  <a:t>Objective: </a:t>
                </a:r>
              </a:p>
              <a:p>
                <a:pPr lvl="1"/>
                <a:r>
                  <a:rPr lang="en-US" dirty="0"/>
                  <a:t>Simulate the "aerodynamic blockage" caused by the boundary layer without running full CFD.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CA" i="1"/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CA"/>
                          <m:t>θ</m:t>
                        </m:r>
                      </m:e>
                      <m:sup>
                        <m:r>
                          <a:rPr lang="en-CA" i="1"/>
                          <m:t>2</m:t>
                        </m:r>
                      </m:sup>
                    </m:sSup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𝑠</m:t>
                        </m:r>
                      </m:e>
                    </m:d>
                    <m:r>
                      <a:rPr lang="en-CA" i="1"/>
                      <m:t>=</m:t>
                    </m:r>
                    <m:f>
                      <m:fPr>
                        <m:ctrlPr>
                          <a:rPr lang="en-CA" i="1"/>
                        </m:ctrlPr>
                      </m:fPr>
                      <m:num>
                        <m:r>
                          <a:rPr lang="en-CA" i="1"/>
                          <m:t>0.45</m:t>
                        </m:r>
                        <m:r>
                          <m:rPr>
                            <m:sty m:val="p"/>
                          </m:rPr>
                          <a:rPr lang="en-CA"/>
                          <m:t>ν</m:t>
                        </m:r>
                      </m:num>
                      <m:den>
                        <m:sSubSup>
                          <m:sSubSupPr>
                            <m:ctrlPr>
                              <a:rPr lang="en-CA" i="1"/>
                            </m:ctrlPr>
                          </m:sSubSupPr>
                          <m:e>
                            <m:r>
                              <a:rPr lang="en-CA" i="1"/>
                              <m:t>𝑈</m:t>
                            </m:r>
                          </m:e>
                          <m:sub>
                            <m:r>
                              <a:rPr lang="en-CA" i="1"/>
                              <m:t>𝑒</m:t>
                            </m:r>
                          </m:sub>
                          <m:sup>
                            <m:r>
                              <a:rPr lang="en-CA" i="1"/>
                              <m:t>6</m:t>
                            </m:r>
                          </m:sup>
                        </m:sSubSup>
                        <m:d>
                          <m:dPr>
                            <m:ctrlPr>
                              <a:rPr lang="en-CA" i="1"/>
                            </m:ctrlPr>
                          </m:dPr>
                          <m:e>
                            <m:r>
                              <a:rPr lang="en-CA" i="1"/>
                              <m:t>𝑠</m:t>
                            </m:r>
                          </m:e>
                        </m:d>
                      </m:den>
                    </m:f>
                    <m:nary>
                      <m:naryPr>
                        <m:ctrlPr>
                          <a:rPr lang="en-CA" i="1"/>
                        </m:ctrlPr>
                      </m:naryPr>
                      <m:sub>
                        <m:r>
                          <a:rPr lang="en-CA" i="1"/>
                          <m:t>0</m:t>
                        </m:r>
                      </m:sub>
                      <m:sup>
                        <m:r>
                          <a:rPr lang="en-CA" i="1"/>
                          <m:t>𝑠</m:t>
                        </m:r>
                      </m:sup>
                      <m:e>
                        <m:sSubSup>
                          <m:sSubSupPr>
                            <m:ctrlPr>
                              <a:rPr lang="en-CA" i="1"/>
                            </m:ctrlPr>
                          </m:sSubSupPr>
                          <m:e>
                            <m:r>
                              <a:rPr lang="en-CA" i="1"/>
                              <m:t>𝑈</m:t>
                            </m:r>
                          </m:e>
                          <m:sub>
                            <m:r>
                              <a:rPr lang="en-CA" i="1"/>
                              <m:t>𝑒</m:t>
                            </m:r>
                          </m:sub>
                          <m:sup>
                            <m:r>
                              <a:rPr lang="en-CA" i="1"/>
                              <m:t>5</m:t>
                            </m:r>
                          </m:sup>
                        </m:sSubSup>
                        <m:d>
                          <m:dPr>
                            <m:ctrlPr>
                              <a:rPr lang="en-CA" i="1"/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CA" i="1"/>
                                </m:ctrlPr>
                              </m:sSupPr>
                              <m:e>
                                <m:r>
                                  <a:rPr lang="en-CA" i="1"/>
                                  <m:t>𝑠</m:t>
                                </m:r>
                              </m:e>
                              <m:sup>
                                <m:r>
                                  <a:rPr lang="en-CA" i="1"/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nary>
                    <m:r>
                      <a:rPr lang="en-CA" i="1"/>
                      <m:t> </m:t>
                    </m:r>
                    <m:r>
                      <a:rPr lang="en-CA" i="1"/>
                      <m:t>𝑑</m:t>
                    </m:r>
                    <m:sSup>
                      <m:sSupPr>
                        <m:ctrlPr>
                          <a:rPr lang="en-CA" i="1"/>
                        </m:ctrlPr>
                      </m:sSupPr>
                      <m:e>
                        <m:r>
                          <a:rPr lang="en-CA" i="1"/>
                          <m:t>𝑠</m:t>
                        </m:r>
                      </m:e>
                      <m:sup>
                        <m:r>
                          <a:rPr lang="en-CA" i="1"/>
                          <m:t>′</m:t>
                        </m:r>
                      </m:sup>
                    </m:sSup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CA" i="1"/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CA"/>
                          <m:t>δ</m:t>
                        </m:r>
                      </m:e>
                      <m:sup>
                        <m:r>
                          <a:rPr lang="en-CA" i="1"/>
                          <m:t>∗</m:t>
                        </m:r>
                      </m:sup>
                    </m:sSup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𝑠</m:t>
                        </m:r>
                      </m:e>
                    </m:d>
                    <m:r>
                      <a:rPr lang="en-CA" i="1"/>
                      <m:t>=</m:t>
                    </m:r>
                    <m:r>
                      <a:rPr lang="en-CA" i="1"/>
                      <m:t>𝐻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CA"/>
                          <m:t>λ</m:t>
                        </m:r>
                      </m:e>
                    </m:d>
                    <m:r>
                      <a:rPr lang="en-CA"/>
                      <m:t>⋅</m:t>
                    </m:r>
                    <m:r>
                      <m:rPr>
                        <m:sty m:val="p"/>
                      </m:rPr>
                      <a:rPr lang="en-CA"/>
                      <m:t>θ</m:t>
                    </m:r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𝑠</m:t>
                        </m:r>
                      </m:e>
                    </m:d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/>
                      <m:t>λ</m:t>
                    </m:r>
                    <m:r>
                      <a:rPr lang="en-CA" i="1"/>
                      <m:t>=</m:t>
                    </m:r>
                    <m:f>
                      <m:fPr>
                        <m:ctrlPr>
                          <a:rPr lang="en-CA" i="1"/>
                        </m:ctrlPr>
                      </m:fPr>
                      <m:num>
                        <m:sSup>
                          <m:sSupPr>
                            <m:ctrlPr>
                              <a:rPr lang="en-CA" i="1"/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CA"/>
                              <m:t>θ</m:t>
                            </m:r>
                          </m:e>
                          <m:sup>
                            <m:r>
                              <a:rPr lang="en-CA" i="1"/>
                              <m:t>2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a:rPr lang="en-CA"/>
                          <m:t>ν</m:t>
                        </m:r>
                      </m:den>
                    </m:f>
                    <m:f>
                      <m:fPr>
                        <m:ctrlPr>
                          <a:rPr lang="en-CA" i="1"/>
                        </m:ctrlPr>
                      </m:fPr>
                      <m:num>
                        <m:r>
                          <a:rPr lang="en-CA" i="1"/>
                          <m:t>𝑑</m:t>
                        </m:r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a:rPr lang="en-CA" i="1"/>
                              <m:t>𝑈</m:t>
                            </m:r>
                          </m:e>
                          <m:sub>
                            <m:r>
                              <a:rPr lang="en-CA" i="1"/>
                              <m:t>𝑒</m:t>
                            </m:r>
                          </m:sub>
                        </m:sSub>
                      </m:num>
                      <m:den>
                        <m:r>
                          <a:rPr lang="en-CA" i="1"/>
                          <m:t>𝑑𝑠</m:t>
                        </m:r>
                      </m:den>
                    </m:f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CA" i="1"/>
                        </m:ctrlPr>
                      </m:accPr>
                      <m:e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a:rPr lang="en-CA" i="1"/>
                              <m:t>𝑥</m:t>
                            </m:r>
                          </m:e>
                          <m:sub>
                            <m:r>
                              <a:rPr lang="en-CA" i="1"/>
                              <m:t>𝑛𝑒𝑤</m:t>
                            </m:r>
                          </m:sub>
                        </m:sSub>
                      </m:e>
                    </m:acc>
                    <m:r>
                      <a:rPr lang="en-CA" i="1"/>
                      <m:t>=</m:t>
                    </m:r>
                    <m:acc>
                      <m:accPr>
                        <m:chr m:val="⃗"/>
                        <m:ctrlPr>
                          <a:rPr lang="en-CA" i="1"/>
                        </m:ctrlPr>
                      </m:accPr>
                      <m:e>
                        <m:sSub>
                          <m:sSubPr>
                            <m:ctrlPr>
                              <a:rPr lang="en-CA" i="1"/>
                            </m:ctrlPr>
                          </m:sSubPr>
                          <m:e>
                            <m:r>
                              <a:rPr lang="en-CA" i="1"/>
                              <m:t>𝑥</m:t>
                            </m:r>
                          </m:e>
                          <m:sub>
                            <m:r>
                              <a:rPr lang="en-CA" i="1"/>
                              <m:t>𝑜𝑟𝑖𝑔</m:t>
                            </m:r>
                          </m:sub>
                        </m:sSub>
                      </m:e>
                    </m:acc>
                    <m:r>
                      <a:rPr lang="en-CA" i="1"/>
                      <m:t>+</m:t>
                    </m:r>
                    <m:sSup>
                      <m:sSupPr>
                        <m:ctrlPr>
                          <a:rPr lang="en-CA" i="1"/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CA"/>
                          <m:t>δ</m:t>
                        </m:r>
                      </m:e>
                      <m:sup>
                        <m:r>
                          <a:rPr lang="en-CA" i="1"/>
                          <m:t>∗</m:t>
                        </m:r>
                      </m:sup>
                    </m:sSup>
                    <m:d>
                      <m:dPr>
                        <m:ctrlPr>
                          <a:rPr lang="en-CA" i="1"/>
                        </m:ctrlPr>
                      </m:dPr>
                      <m:e>
                        <m:r>
                          <a:rPr lang="en-CA" i="1"/>
                          <m:t>𝑠</m:t>
                        </m:r>
                      </m:e>
                    </m:d>
                    <m:r>
                      <a:rPr lang="en-CA"/>
                      <m:t>⋅</m:t>
                    </m:r>
                    <m:acc>
                      <m:accPr>
                        <m:chr m:val="⃗"/>
                        <m:ctrlPr>
                          <a:rPr lang="en-CA" i="1"/>
                        </m:ctrlPr>
                      </m:accPr>
                      <m:e>
                        <m:r>
                          <a:rPr lang="en-CA" i="1"/>
                          <m:t>𝑛</m:t>
                        </m:r>
                      </m:e>
                    </m:acc>
                  </m:oMath>
                </a14:m>
                <a:endParaRPr lang="en-CA" dirty="0"/>
              </a:p>
              <a:p>
                <a:r>
                  <a:rPr lang="en-CA" dirty="0"/>
                  <a:t>Upon separation, the model transitions to a wake model where displacement thickness grows linearly, creating an effective channel geometry that is significantly narrower than the physical wall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2175BD3-C3A2-0E1F-E9D2-0022DDDEDD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t="-1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D74B3-1FB0-932E-D446-45D72E9F5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3A2B46-D3CE-B14D-1BDF-BF8EB1A5E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8" name="Content Placeholder 7" descr="A graph of a curve&#10;&#10;AI-generated content may be incorrect.">
            <a:extLst>
              <a:ext uri="{FF2B5EF4-FFF2-40B4-BE49-F238E27FC236}">
                <a16:creationId xmlns:a16="http://schemas.microsoft.com/office/drawing/2014/main" id="{F118C806-497E-57F6-2A1B-4151A68CF39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0613" y="1478134"/>
            <a:ext cx="5659437" cy="339566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30728C2-B13C-0F4F-54FD-F7F929670798}"/>
                  </a:ext>
                </a:extLst>
              </p:cNvPr>
              <p:cNvSpPr txBox="1"/>
              <p:nvPr/>
            </p:nvSpPr>
            <p:spPr>
              <a:xfrm>
                <a:off x="5950402" y="4820867"/>
                <a:ext cx="6099858" cy="1117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&amp;2.61 − 3.836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 + 5.607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p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        #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𝑓𝑜𝑟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≥0</m:t>
                              </m:r>
                            </m:e>
                            <m:e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&amp;2.106 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0.068</m:t>
                                  </m:r>
                                </m:num>
                                <m:den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0.137 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  <m:r>
                                    <a:rPr lang="en-US" i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den>
                              </m:f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#</m:t>
                              </m:r>
                              <m:r>
                                <a:rPr lang="en-CA" b="0" i="1" smtClean="0">
                                  <a:latin typeface="Cambria Math" panose="02040503050406030204" pitchFamily="18" charset="0"/>
                                </a:rPr>
                                <m:t>  #                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𝑓𝑜𝑟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n-US" i="0">
                                  <a:latin typeface="Cambria Math" panose="02040503050406030204" pitchFamily="18" charset="0"/>
                                </a:rPr>
                                <m:t>&lt;0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30728C2-B13C-0F4F-54FD-F7F9296707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0402" y="4820867"/>
                <a:ext cx="6099858" cy="1117998"/>
              </a:xfrm>
              <a:prstGeom prst="rect">
                <a:avLst/>
              </a:prstGeom>
              <a:blipFill>
                <a:blip r:embed="rId4"/>
                <a:stretch>
                  <a:fillRect l="-9771" t="-210112" b="-2977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4337524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8F5BFA-AC71-9343-BEF9-7F7F683439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B512B8-FC7E-5D05-B0AF-5067FD5DB3B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lvl="0"/>
                <a:r>
                  <a:rPr lang="en-CA" b="1" dirty="0"/>
                  <a:t>Initialization: </a:t>
                </a:r>
                <a:r>
                  <a:rPr lang="en-CA" dirty="0"/>
                  <a:t>The boundary layer thickness is initialized to zero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CA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CA" dirty="0"/>
                  <a:t>). The initial effective geometry is the physical channel shape.</a:t>
                </a:r>
              </a:p>
              <a:p>
                <a:pPr lvl="0"/>
                <a:r>
                  <a:rPr lang="en-CA" b="1" dirty="0"/>
                  <a:t>Potential Flow Step: </a:t>
                </a:r>
                <a:r>
                  <a:rPr lang="en-CA" dirty="0"/>
                  <a:t>The potential flow is solved for the current effective geometry to obtain the surface velocity distribution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CA" dirty="0"/>
                  <a:t>.</a:t>
                </a:r>
              </a:p>
              <a:p>
                <a:pPr lvl="0"/>
                <a:r>
                  <a:rPr lang="en-CA" b="1" dirty="0"/>
                  <a:t>Boundary Layer Step: </a:t>
                </a:r>
                <a:r>
                  <a:rPr lang="en-CA" dirty="0"/>
                  <a:t>Thwaites' method is applied to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CA" dirty="0"/>
                  <a:t> to calculate the new distribution of displacement thickness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𝑛𝑒𝑤</m:t>
                        </m:r>
                      </m:sub>
                    </m:sSub>
                  </m:oMath>
                </a14:m>
                <a:r>
                  <a:rPr lang="en-CA" dirty="0"/>
                  <a:t>.</a:t>
                </a:r>
              </a:p>
              <a:p>
                <a:pPr lvl="0"/>
                <a:r>
                  <a:rPr lang="en-CA" b="1" dirty="0"/>
                  <a:t>Relaxation: </a:t>
                </a:r>
                <a:r>
                  <a:rPr lang="en-CA" dirty="0"/>
                  <a:t>To ensure numerical stability, the effective geometry is updated using an under-relaxation factor 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ω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= 0.05</m:t>
                    </m:r>
                  </m:oMath>
                </a14:m>
                <a:r>
                  <a:rPr lang="en-CA" dirty="0"/>
                  <a:t>: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Sup>
                          <m:sSub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𝑒𝑓𝑓𝑒𝑐𝑡𝑖𝑣𝑒</m:t>
                            </m:r>
                          </m:sub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p>
                        </m:sSubSup>
                      </m:e>
                    </m:acc>
                    <m:r>
                      <a:rPr lang="en-CA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1−</m:t>
                        </m:r>
                        <m:r>
                          <m:rPr>
                            <m:sty m:val="p"/>
                          </m:rPr>
                          <a:rPr lang="en-CA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</m:d>
                    <m:acc>
                      <m:accPr>
                        <m:chr m:val="⃗"/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Sup>
                          <m:sSub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𝑒𝑓𝑓𝑒𝑐𝑡𝑖𝑣𝑒</m:t>
                            </m:r>
                          </m:sub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</m:e>
                    </m:acc>
                    <m:r>
                      <a:rPr lang="en-CA" i="1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CA">
                        <a:latin typeface="Cambria Math" panose="02040503050406030204" pitchFamily="18" charset="0"/>
                      </a:rPr>
                      <m:t>ω</m:t>
                    </m:r>
                    <m:d>
                      <m:d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CA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CA" i="1">
                                    <a:latin typeface="Cambria Math" panose="02040503050406030204" pitchFamily="18" charset="0"/>
                                  </a:rPr>
                                  <m:t>𝑜𝑟𝑖𝑔</m:t>
                                </m:r>
                              </m:sub>
                            </m:sSub>
                          </m:e>
                        </m:acc>
                        <m:r>
                          <a:rPr lang="en-CA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CA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𝑛𝑒𝑤</m:t>
                            </m:r>
                          </m:sub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acc>
                          <m:accPr>
                            <m:chr m:val="⃗"/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acc>
                      </m:e>
                    </m:d>
                  </m:oMath>
                </a14:m>
                <a:endParaRPr lang="en-CA" dirty="0"/>
              </a:p>
              <a:p>
                <a:pPr lvl="0"/>
                <a:r>
                  <a:rPr lang="en-CA" b="1" dirty="0"/>
                  <a:t>Convergence: </a:t>
                </a:r>
                <a:r>
                  <a:rPr lang="en-CA" dirty="0"/>
                  <a:t>Steps 2–4 are repeated until the maximum change in the pressure coefficient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dirty="0"/>
                  <a:t>between iterations falls below a tolerance of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CA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CA" i="1">
                            <a:latin typeface="Cambria Math" panose="02040503050406030204" pitchFamily="18" charset="0"/>
                          </a:rPr>
                          <m:t>−4</m:t>
                        </m:r>
                      </m:sup>
                    </m:sSup>
                  </m:oMath>
                </a14:m>
                <a:r>
                  <a:rPr lang="en-CA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FB512B8-FC7E-5D05-B0AF-5067FD5DB3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t="-1316" b="-9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4E30C3-9B91-F6B4-8B3E-E0B895234D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Stability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0D7DE2B-3567-EEDC-B18E-17B062AA133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Numerical Stiffness: </a:t>
            </a:r>
            <a:r>
              <a:rPr lang="en-US" dirty="0"/>
              <a:t>The coupling between the inviscid and viscous solvers is highly sensitive, particularly at the glottal throat. </a:t>
            </a:r>
          </a:p>
          <a:p>
            <a:r>
              <a:rPr lang="en-US" dirty="0"/>
              <a:t>Because the gap is so small, tiny changes in displacement thickness caused massive fluctuations in core velocity.</a:t>
            </a:r>
          </a:p>
          <a:p>
            <a:r>
              <a:rPr lang="en-US" dirty="0"/>
              <a:t>The effective wall geometry would oscillate violently rather than converging. </a:t>
            </a:r>
          </a:p>
          <a:p>
            <a:r>
              <a:rPr lang="en-US" dirty="0"/>
              <a:t>Thwaites' shape factor correlation contains a mathematical singularity near separation. 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6586129-8FFA-2E38-3580-883717D91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Viscous-Inviscid Interaction Solver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086EF0F-2B8F-9634-BC29-1F95734B0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F0FAC7D-30F3-000C-B6BB-219CAA1E5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707467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1186A-A6A0-4ADD-0D33-C5583F5EE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6D7A3-C442-3391-2984-CEFAC64B2D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model predicts Laminar Separation just past the throat.</a:t>
            </a:r>
          </a:p>
          <a:p>
            <a:r>
              <a:rPr lang="en-US" dirty="0"/>
              <a:t>Blockage Effect: The boundary layer creates a "Virtual Throat" (narrower than physical throat). </a:t>
            </a:r>
          </a:p>
          <a:p>
            <a:r>
              <a:rPr lang="en-US" dirty="0"/>
              <a:t>Predicts lower pressure at throat due to area reduction. </a:t>
            </a:r>
          </a:p>
          <a:p>
            <a:r>
              <a:rPr lang="en-US" dirty="0"/>
              <a:t>Despite capturing the separation mechanism, the model predicts a gradual pressure rise rather than the flat pressure plateau observed in experiments.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0E372-99E8-A8C6-E462-627B08D93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8DD8A4-EF51-0896-C4FA-6F3A77007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1C56576-B130-80E7-E951-CD2D92C1E42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3642" y="1412875"/>
            <a:ext cx="3933378" cy="459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3594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322CE-2DD2-9E33-1FEA-CC39556F1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and 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4A5B7-A976-CAB7-E16B-44C5D9C23F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Limitations: </a:t>
            </a:r>
          </a:p>
          <a:p>
            <a:pPr lvl="1"/>
            <a:r>
              <a:rPr lang="en-US" dirty="0"/>
              <a:t>Full pressure recovery. </a:t>
            </a:r>
          </a:p>
          <a:p>
            <a:pPr lvl="1"/>
            <a:r>
              <a:rPr lang="en-US" dirty="0"/>
              <a:t>Laminar Flow assumption.</a:t>
            </a:r>
          </a:p>
          <a:p>
            <a:pPr lvl="1"/>
            <a:r>
              <a:rPr lang="en-US" dirty="0"/>
              <a:t>Laminar Wake assumption. </a:t>
            </a:r>
          </a:p>
          <a:p>
            <a:r>
              <a:rPr lang="en-US" b="1" dirty="0"/>
              <a:t>Conclusions:</a:t>
            </a:r>
          </a:p>
          <a:p>
            <a:pPr lvl="1"/>
            <a:r>
              <a:rPr lang="en-US" dirty="0"/>
              <a:t>Potential Flow is valid only for the convergent section of the glottis. </a:t>
            </a:r>
          </a:p>
          <a:p>
            <a:pPr lvl="1"/>
            <a:r>
              <a:rPr lang="en-US" dirty="0"/>
              <a:t>Geometric fidelity alone does not solve the pressure prediction error. </a:t>
            </a:r>
          </a:p>
          <a:p>
            <a:pPr lvl="1"/>
            <a:r>
              <a:rPr lang="en-US" dirty="0"/>
              <a:t>Viscous effect is essential. Need to captures the separation mechanism and blockage that dominate the divergent section.</a:t>
            </a:r>
          </a:p>
          <a:p>
            <a:pPr lvl="1"/>
            <a:r>
              <a:rPr lang="en-US" dirty="0"/>
              <a:t>Physical experiments show that the post-separation zone is dominated by turbulent mixing and eddy dissipation, which consume kinetic energy and prevent this pressure recovery. </a:t>
            </a:r>
          </a:p>
          <a:p>
            <a:pPr lvl="1"/>
            <a:r>
              <a:rPr lang="en-US" dirty="0"/>
              <a:t>A fully turbulent wake model is required to perfectly reproduce the flat experimental pressure plateau.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DB174-232B-81B9-E849-6D041C67E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8DD33-71CB-31C0-46F1-4F2F0253C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4544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24528-ADC1-0BED-0D02-B421BE3F1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F03306-A1AE-7EB0-03D7-F554771D2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CA" dirty="0"/>
              <a:t>[1] Scherer, R. C., Shinwari, D., De Witt, K. J., Zhang, C., </a:t>
            </a:r>
            <a:r>
              <a:rPr lang="en-CA" dirty="0" err="1"/>
              <a:t>Kucinschi</a:t>
            </a:r>
            <a:r>
              <a:rPr lang="en-CA" dirty="0"/>
              <a:t>, B. R., &amp; </a:t>
            </a:r>
            <a:r>
              <a:rPr lang="en-CA" dirty="0" err="1"/>
              <a:t>Afjeh</a:t>
            </a:r>
            <a:r>
              <a:rPr lang="en-CA" dirty="0"/>
              <a:t>, A. A. (2001). </a:t>
            </a:r>
            <a:r>
              <a:rPr lang="en-CA" dirty="0" err="1"/>
              <a:t>Intraglottal</a:t>
            </a:r>
            <a:r>
              <a:rPr lang="en-CA" dirty="0"/>
              <a:t> pressure profiles for a symmetric and oblique glottis with a divergence angle of 10 degrees. </a:t>
            </a:r>
            <a:r>
              <a:rPr lang="en-CA" i="1" dirty="0"/>
              <a:t>J. </a:t>
            </a:r>
            <a:r>
              <a:rPr lang="en-CA" i="1" dirty="0" err="1"/>
              <a:t>Acoust</a:t>
            </a:r>
            <a:r>
              <a:rPr lang="en-CA" i="1" dirty="0"/>
              <a:t>. Soc. Am., 109</a:t>
            </a:r>
            <a:r>
              <a:rPr lang="en-CA" dirty="0"/>
              <a:t>(4), 1616–1630.</a:t>
            </a:r>
          </a:p>
          <a:p>
            <a:pPr marL="0" indent="0">
              <a:buNone/>
            </a:pPr>
            <a:r>
              <a:rPr lang="en-CA" dirty="0"/>
              <a:t>[2] Schoder, S., Wurzer, G., &amp; </a:t>
            </a:r>
            <a:r>
              <a:rPr lang="en-CA" dirty="0" err="1"/>
              <a:t>Kaltenbacher</a:t>
            </a:r>
            <a:r>
              <a:rPr lang="en-CA" dirty="0"/>
              <a:t>, M. (2023). Overview on state-of-the-art numerical modeling of the phonation process. </a:t>
            </a:r>
            <a:r>
              <a:rPr lang="en-CA" i="1" dirty="0"/>
              <a:t>Acta Acustica, 7</a:t>
            </a:r>
            <a:r>
              <a:rPr lang="en-CA" dirty="0"/>
              <a:t>, 1-19.</a:t>
            </a:r>
          </a:p>
          <a:p>
            <a:pPr marL="0" indent="0">
              <a:buNone/>
            </a:pPr>
            <a:r>
              <a:rPr lang="en-CA" dirty="0"/>
              <a:t>[3] </a:t>
            </a:r>
            <a:r>
              <a:rPr lang="en-CA" dirty="0" err="1"/>
              <a:t>Pelorson</a:t>
            </a:r>
            <a:r>
              <a:rPr lang="en-CA" dirty="0"/>
              <a:t>, X., Hirschberg, A., van Hassel, R. R., </a:t>
            </a:r>
            <a:r>
              <a:rPr lang="en-CA" dirty="0" err="1"/>
              <a:t>Wijnands</a:t>
            </a:r>
            <a:r>
              <a:rPr lang="en-CA" dirty="0"/>
              <a:t>, A. P. J., &amp; </a:t>
            </a:r>
            <a:r>
              <a:rPr lang="en-CA" dirty="0" err="1"/>
              <a:t>Aurégan</a:t>
            </a:r>
            <a:r>
              <a:rPr lang="en-CA" dirty="0"/>
              <a:t>, Y. (1994). Theoretical and experimental study of </a:t>
            </a:r>
            <a:r>
              <a:rPr lang="en-CA" dirty="0" err="1"/>
              <a:t>quasisteady</a:t>
            </a:r>
            <a:r>
              <a:rPr lang="en-CA" dirty="0"/>
              <a:t>-flow separation within the glottis during phonation. Application to a modified two-mass model. </a:t>
            </a:r>
            <a:r>
              <a:rPr lang="en-CA" i="1" dirty="0"/>
              <a:t>The Journal of the Acoustical Society of America, 96</a:t>
            </a:r>
            <a:r>
              <a:rPr lang="en-CA" dirty="0"/>
              <a:t>(6), 3416-3431.</a:t>
            </a:r>
          </a:p>
          <a:p>
            <a:pPr marL="0" indent="0">
              <a:buNone/>
            </a:pPr>
            <a:r>
              <a:rPr lang="en-CA" dirty="0"/>
              <a:t>[4] Hess, J. L., &amp; Smith, A. M. O. (1967). Calculation of potential flow about arbitrary bodies. Progress in Aerospace Sciences, 8, 1-138.</a:t>
            </a:r>
          </a:p>
          <a:p>
            <a:pPr marL="0" indent="0">
              <a:buNone/>
            </a:pPr>
            <a:r>
              <a:rPr lang="en-CA" dirty="0"/>
              <a:t>[5] Anderson, J. D. (2017). Fundamentals of Aerodynamics (6th ed.). McGraw-Hill Education.</a:t>
            </a:r>
          </a:p>
          <a:p>
            <a:pPr marL="0" indent="0">
              <a:buNone/>
            </a:pPr>
            <a:r>
              <a:rPr lang="en-CA" dirty="0"/>
              <a:t>[6] Thwaites, B. (1949). Approximate calculation of the laminar boundary layer. Aeronautical Quarterly, 1(3), 245-280.</a:t>
            </a:r>
          </a:p>
          <a:p>
            <a:pPr marL="0" indent="0">
              <a:buNone/>
            </a:pPr>
            <a:r>
              <a:rPr lang="en-CA" dirty="0"/>
              <a:t>[7] White, F. M. (2006). Viscous Fluid Flow (3rd ed.). McGraw-Hill.</a:t>
            </a:r>
          </a:p>
          <a:p>
            <a:pPr marL="0" indent="0">
              <a:buNone/>
            </a:pPr>
            <a:r>
              <a:rPr lang="en-CA" dirty="0"/>
              <a:t>[8] Zong H, </a:t>
            </a:r>
            <a:r>
              <a:rPr lang="en-CA" dirty="0" err="1"/>
              <a:t>Porté</a:t>
            </a:r>
            <a:r>
              <a:rPr lang="en-CA" dirty="0"/>
              <a:t>-Agel F. A momentum-conserving wake superposition method for wind farm power prediction. Journal of Fluid Mechanics. 2020;889:A8. doi:10.1017/jfm.2020.77</a:t>
            </a:r>
          </a:p>
          <a:p>
            <a:pPr marL="0" indent="0">
              <a:buNone/>
            </a:pPr>
            <a:r>
              <a:rPr lang="en-CA" dirty="0"/>
              <a:t>[9] Mittal, R., Erath, B. D., &amp; Plesniak, M. W. (2013). Fluid dynamics of human phonation and speech. Annual Review of Fluid Mechanics, 45, 437-467.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DE7B9D-3DFB-200F-5C64-6DC83CD35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Glottis Flow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901D88-5EDD-3EDC-F0A3-F04C5BE61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/>
              <a:t>PAGE  </a:t>
            </a:r>
            <a:fld id="{93005692-73BE-493E-93AB-ECD6027A7652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302839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UofWaterloo_WhiteBkgrd">
  <a:themeElements>
    <a:clrScheme name="UWaterloo Engineering">
      <a:dk1>
        <a:srgbClr val="000000"/>
      </a:dk1>
      <a:lt1>
        <a:srgbClr val="FFFFFF"/>
      </a:lt1>
      <a:dk2>
        <a:srgbClr val="757575"/>
      </a:dk2>
      <a:lt2>
        <a:srgbClr val="D6D6D6"/>
      </a:lt2>
      <a:accent1>
        <a:srgbClr val="B45DCB"/>
      </a:accent1>
      <a:accent2>
        <a:srgbClr val="0C0C0C"/>
      </a:accent2>
      <a:accent3>
        <a:srgbClr val="865DA4"/>
      </a:accent3>
      <a:accent4>
        <a:srgbClr val="C2A8F0"/>
      </a:accent4>
      <a:accent5>
        <a:srgbClr val="5D0096"/>
      </a:accent5>
      <a:accent6>
        <a:srgbClr val="865DA4"/>
      </a:accent6>
      <a:hlink>
        <a:srgbClr val="5D0096"/>
      </a:hlink>
      <a:folHlink>
        <a:srgbClr val="595959"/>
      </a:folHlink>
    </a:clrScheme>
    <a:fontScheme name="Custom 3">
      <a:majorFont>
        <a:latin typeface="Barlow Condensed"/>
        <a:ea typeface=""/>
        <a:cs typeface=""/>
      </a:majorFont>
      <a:minorFont>
        <a:latin typeface="Georgi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8AE19A44-AAC1-D943-891E-EC6DE7954967}" vid="{98B83BC1-8754-C848-9B1A-39DC240902D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535D3CEC2F76A4CA1EC3507E2D03D36" ma:contentTypeVersion="16" ma:contentTypeDescription="Create a new document." ma:contentTypeScope="" ma:versionID="bb97bee70b1606bbb700640dacabe47f">
  <xsd:schema xmlns:xsd="http://www.w3.org/2001/XMLSchema" xmlns:xs="http://www.w3.org/2001/XMLSchema" xmlns:p="http://schemas.microsoft.com/office/2006/metadata/properties" xmlns:ns2="9bed8fe0-fd4c-4f92-9936-a2497f3396f6" xmlns:ns3="5d8f0207-1964-4a5e-9049-2927796093eb" targetNamespace="http://schemas.microsoft.com/office/2006/metadata/properties" ma:root="true" ma:fieldsID="5de26a37e5c2406e777d4ddd47cd8e40" ns2:_="" ns3:_="">
    <xsd:import namespace="9bed8fe0-fd4c-4f92-9936-a2497f3396f6"/>
    <xsd:import namespace="5d8f0207-1964-4a5e-9049-2927796093e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ed8fe0-fd4c-4f92-9936-a2497f3396f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ba7b523d-fb2c-44c1-96a9-2a2e1bedae48}" ma:internalName="TaxCatchAll" ma:showField="CatchAllData" ma:web="9bed8fe0-fd4c-4f92-9936-a2497f3396f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8f0207-1964-4a5e-9049-2927796093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bf906fe-3e8e-4b22-a6fd-bde302b921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2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4" ma:displayName="Content Typ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d8f0207-1964-4a5e-9049-2927796093eb">
      <Terms xmlns="http://schemas.microsoft.com/office/infopath/2007/PartnerControls"/>
    </lcf76f155ced4ddcb4097134ff3c332f>
    <TaxCatchAll xmlns="9bed8fe0-fd4c-4f92-9936-a2497f3396f6" xsi:nil="true"/>
  </documentManagement>
</p:properties>
</file>

<file path=customXml/itemProps1.xml><?xml version="1.0" encoding="utf-8"?>
<ds:datastoreItem xmlns:ds="http://schemas.openxmlformats.org/officeDocument/2006/customXml" ds:itemID="{9796CB3A-B122-4517-855C-0F4A88E980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bed8fe0-fd4c-4f92-9936-a2497f3396f6"/>
    <ds:schemaRef ds:uri="5d8f0207-1964-4a5e-9049-2927796093e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7F4C4DB-07ED-49AD-9A79-4094EE45E6E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46C92BA-2C15-4648-8094-8AE24EF764A2}">
  <ds:schemaRefs>
    <ds:schemaRef ds:uri="http://schemas.microsoft.com/office/2006/metadata/properties"/>
    <ds:schemaRef ds:uri="http://schemas.microsoft.com/office/infopath/2007/PartnerControls"/>
    <ds:schemaRef ds:uri="5d8f0207-1964-4a5e-9049-2927796093eb"/>
    <ds:schemaRef ds:uri="9bed8fe0-fd4c-4f92-9936-a2497f3396f6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UofWaterloo_WhiteBkgrd</Template>
  <TotalTime>89</TotalTime>
  <Words>1431</Words>
  <Application>Microsoft Macintosh PowerPoint</Application>
  <PresentationFormat>Widescreen</PresentationFormat>
  <Paragraphs>141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Arial</vt:lpstr>
      <vt:lpstr>Barlow Condensed</vt:lpstr>
      <vt:lpstr>Calibri</vt:lpstr>
      <vt:lpstr>Cambria Math</vt:lpstr>
      <vt:lpstr>Georgia</vt:lpstr>
      <vt:lpstr>Times New Roman</vt:lpstr>
      <vt:lpstr>Verdana</vt:lpstr>
      <vt:lpstr>Wingdings</vt:lpstr>
      <vt:lpstr>UofWaterloo_WhiteBkgrd</vt:lpstr>
      <vt:lpstr>Glottis Flow</vt:lpstr>
      <vt:lpstr>Introduction and Motivation</vt:lpstr>
      <vt:lpstr>Experimental Apparatus</vt:lpstr>
      <vt:lpstr>Method of Images</vt:lpstr>
      <vt:lpstr>Results</vt:lpstr>
      <vt:lpstr>Source Panel Method</vt:lpstr>
      <vt:lpstr>Results</vt:lpstr>
      <vt:lpstr>Viscous-Inviscid Interaction</vt:lpstr>
      <vt:lpstr>Viscous-Inviscid Interaction Solver</vt:lpstr>
      <vt:lpstr>Results</vt:lpstr>
      <vt:lpstr>Limitations and Conclusions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JD Zhu</dc:creator>
  <cp:lastModifiedBy>JD Zhu</cp:lastModifiedBy>
  <cp:revision>2</cp:revision>
  <dcterms:created xsi:type="dcterms:W3CDTF">2025-11-29T18:57:44Z</dcterms:created>
  <dcterms:modified xsi:type="dcterms:W3CDTF">2025-11-29T20:26:48Z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0x0101009535D3CEC2F76A4CA1EC3507E2D03D36</vt:lpwstr>
  </property>
</Properties>
</file>